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an shear" userId="9203ecaab7734b1f" providerId="LiveId" clId="{C174836B-E85B-4D85-96BE-FDEA0E72A4CB}"/>
    <pc:docChg chg="custSel addSld modSld modMainMaster">
      <pc:chgData name="allan shear" userId="9203ecaab7734b1f" providerId="LiveId" clId="{C174836B-E85B-4D85-96BE-FDEA0E72A4CB}" dt="2026-04-13T06:14:21.366" v="2531" actId="27636"/>
      <pc:docMkLst>
        <pc:docMk/>
      </pc:docMkLst>
      <pc:sldChg chg="modSp">
        <pc:chgData name="allan shear" userId="9203ecaab7734b1f" providerId="LiveId" clId="{C174836B-E85B-4D85-96BE-FDEA0E72A4CB}" dt="2026-04-13T06:14:21.302" v="2530"/>
        <pc:sldMkLst>
          <pc:docMk/>
          <pc:sldMk cId="2502496149" sldId="256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2502496149" sldId="256"/>
            <ac:spMk id="2" creationId="{4B848642-D226-9640-AD20-FDE15F27C65E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2502496149" sldId="256"/>
            <ac:spMk id="3" creationId="{E2CC4B8F-62C0-9E4E-4AE8-929B9DA14E1F}"/>
          </ac:spMkLst>
        </pc:spChg>
      </pc:sldChg>
      <pc:sldChg chg="modSp">
        <pc:chgData name="allan shear" userId="9203ecaab7734b1f" providerId="LiveId" clId="{C174836B-E85B-4D85-96BE-FDEA0E72A4CB}" dt="2026-04-13T06:14:21.302" v="2530"/>
        <pc:sldMkLst>
          <pc:docMk/>
          <pc:sldMk cId="1143703702" sldId="257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1143703702" sldId="257"/>
            <ac:spMk id="2" creationId="{4D22C9B4-C4DD-56D7-117E-7C33EC41F90C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1143703702" sldId="257"/>
            <ac:spMk id="3" creationId="{2FEA9DAB-E38A-5C0E-1734-10BDAC10CBEF}"/>
          </ac:spMkLst>
        </pc:spChg>
      </pc:sldChg>
      <pc:sldChg chg="modSp">
        <pc:chgData name="allan shear" userId="9203ecaab7734b1f" providerId="LiveId" clId="{C174836B-E85B-4D85-96BE-FDEA0E72A4CB}" dt="2026-04-13T06:14:21.302" v="2530"/>
        <pc:sldMkLst>
          <pc:docMk/>
          <pc:sldMk cId="1666825932" sldId="258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1666825932" sldId="258"/>
            <ac:spMk id="2" creationId="{9562C53D-89A5-A237-D62D-25A995C70057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1666825932" sldId="258"/>
            <ac:spMk id="3" creationId="{0B31C4E4-98EF-5509-A87D-0DE4A19AEBC5}"/>
          </ac:spMkLst>
        </pc:spChg>
      </pc:sldChg>
      <pc:sldChg chg="modSp mod">
        <pc:chgData name="allan shear" userId="9203ecaab7734b1f" providerId="LiveId" clId="{C174836B-E85B-4D85-96BE-FDEA0E72A4CB}" dt="2026-04-13T06:14:21.302" v="2530"/>
        <pc:sldMkLst>
          <pc:docMk/>
          <pc:sldMk cId="112768102" sldId="259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112768102" sldId="259"/>
            <ac:spMk id="2" creationId="{D6BF6FB1-EDB7-7D2C-D13E-1AE805B764FE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112768102" sldId="259"/>
            <ac:spMk id="3" creationId="{7BDB87F1-1AC8-5D7C-3739-5C4A73146136}"/>
          </ac:spMkLst>
        </pc:spChg>
      </pc:sldChg>
      <pc:sldChg chg="modSp new mod">
        <pc:chgData name="allan shear" userId="9203ecaab7734b1f" providerId="LiveId" clId="{C174836B-E85B-4D85-96BE-FDEA0E72A4CB}" dt="2026-04-13T06:14:21.302" v="2530"/>
        <pc:sldMkLst>
          <pc:docMk/>
          <pc:sldMk cId="2876516013" sldId="260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2876516013" sldId="260"/>
            <ac:spMk id="2" creationId="{12348BF3-AA37-EFA6-CC61-4B3D0BD10582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2876516013" sldId="260"/>
            <ac:spMk id="3" creationId="{8406940B-F463-1708-CB93-43149DE67DEE}"/>
          </ac:spMkLst>
        </pc:spChg>
      </pc:sldChg>
      <pc:sldChg chg="modSp new mod">
        <pc:chgData name="allan shear" userId="9203ecaab7734b1f" providerId="LiveId" clId="{C174836B-E85B-4D85-96BE-FDEA0E72A4CB}" dt="2026-04-13T06:14:21.302" v="2530"/>
        <pc:sldMkLst>
          <pc:docMk/>
          <pc:sldMk cId="234761457" sldId="261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234761457" sldId="261"/>
            <ac:spMk id="2" creationId="{659F1256-B6F6-CA0E-ACE7-280DC7B31F07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234761457" sldId="261"/>
            <ac:spMk id="3" creationId="{8A4D1734-A023-09BF-2E21-4626C075EB5F}"/>
          </ac:spMkLst>
        </pc:spChg>
      </pc:sldChg>
      <pc:sldChg chg="modSp new mod">
        <pc:chgData name="allan shear" userId="9203ecaab7734b1f" providerId="LiveId" clId="{C174836B-E85B-4D85-96BE-FDEA0E72A4CB}" dt="2026-04-13T06:14:21.366" v="2531" actId="27636"/>
        <pc:sldMkLst>
          <pc:docMk/>
          <pc:sldMk cId="3428416087" sldId="262"/>
        </pc:sldMkLst>
        <pc:spChg chg="mod">
          <ac:chgData name="allan shear" userId="9203ecaab7734b1f" providerId="LiveId" clId="{C174836B-E85B-4D85-96BE-FDEA0E72A4CB}" dt="2026-04-13T06:14:21.366" v="2531" actId="27636"/>
          <ac:spMkLst>
            <pc:docMk/>
            <pc:sldMk cId="3428416087" sldId="262"/>
            <ac:spMk id="2" creationId="{6DEC393C-FABF-6134-A99A-442B9D869369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3428416087" sldId="262"/>
            <ac:spMk id="3" creationId="{806DB261-44FD-6190-E992-75855DFF175F}"/>
          </ac:spMkLst>
        </pc:spChg>
      </pc:sldChg>
      <pc:sldChg chg="modSp new mod">
        <pc:chgData name="allan shear" userId="9203ecaab7734b1f" providerId="LiveId" clId="{C174836B-E85B-4D85-96BE-FDEA0E72A4CB}" dt="2026-04-13T06:14:21.302" v="2530"/>
        <pc:sldMkLst>
          <pc:docMk/>
          <pc:sldMk cId="798558652" sldId="263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798558652" sldId="263"/>
            <ac:spMk id="2" creationId="{8D07D01C-ED04-BF88-4B9D-22D75113EFA6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798558652" sldId="263"/>
            <ac:spMk id="3" creationId="{4D47A791-732A-307A-076D-C8B7419DCE47}"/>
          </ac:spMkLst>
        </pc:spChg>
      </pc:sldChg>
      <pc:sldChg chg="modSp new mod">
        <pc:chgData name="allan shear" userId="9203ecaab7734b1f" providerId="LiveId" clId="{C174836B-E85B-4D85-96BE-FDEA0E72A4CB}" dt="2026-04-13T06:14:21.302" v="2530"/>
        <pc:sldMkLst>
          <pc:docMk/>
          <pc:sldMk cId="1533805796" sldId="264"/>
        </pc:sldMkLst>
        <pc:spChg chg="mod">
          <ac:chgData name="allan shear" userId="9203ecaab7734b1f" providerId="LiveId" clId="{C174836B-E85B-4D85-96BE-FDEA0E72A4CB}" dt="2026-04-13T06:14:21.302" v="2530"/>
          <ac:spMkLst>
            <pc:docMk/>
            <pc:sldMk cId="1533805796" sldId="264"/>
            <ac:spMk id="2" creationId="{81066F0B-6C14-3F36-3AD9-DBDAD5BDE497}"/>
          </ac:spMkLst>
        </pc:spChg>
        <pc:spChg chg="mod">
          <ac:chgData name="allan shear" userId="9203ecaab7734b1f" providerId="LiveId" clId="{C174836B-E85B-4D85-96BE-FDEA0E72A4CB}" dt="2026-04-13T06:14:21.302" v="2530"/>
          <ac:spMkLst>
            <pc:docMk/>
            <pc:sldMk cId="1533805796" sldId="264"/>
            <ac:spMk id="3" creationId="{CB0798AF-CA35-25A4-AAA8-BCAB90FFE563}"/>
          </ac:spMkLst>
        </pc:spChg>
      </pc:sldChg>
      <pc:sldMasterChg chg="setBg">
        <pc:chgData name="allan shear" userId="9203ecaab7734b1f" providerId="LiveId" clId="{C174836B-E85B-4D85-96BE-FDEA0E72A4CB}" dt="2026-04-13T06:13:33.528" v="2514"/>
        <pc:sldMasterMkLst>
          <pc:docMk/>
          <pc:sldMasterMk cId="3083786196" sldId="2147483672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1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4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8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1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4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9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8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7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3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0717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2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2229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17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14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2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0A38A-9EF2-4DB5-A783-4B10A3774D7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612FAC9-EC54-4E22-8E28-B74D13F2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1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48642-D226-9640-AD20-FDE15F27C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ASSIGNMENT ONE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C4B8F-62C0-9E4E-4AE8-929B9DA14E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Authored by Eliud Mule</a:t>
            </a:r>
          </a:p>
        </p:txBody>
      </p:sp>
    </p:spTree>
    <p:extLst>
      <p:ext uri="{BB962C8B-B14F-4D97-AF65-F5344CB8AC3E}">
        <p14:creationId xmlns:p14="http://schemas.microsoft.com/office/powerpoint/2010/main" val="250249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C9B4-C4DD-56D7-117E-7C33EC41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9DAB-E38A-5C0E-1734-10BDAC10C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Import and explore medical datasets in R</a:t>
            </a:r>
          </a:p>
          <a:p>
            <a:r>
              <a:rPr lang="en-US" dirty="0"/>
              <a:t>  Preprocess data for machine learning (cleaning, scaling, encoding)</a:t>
            </a:r>
          </a:p>
          <a:p>
            <a:r>
              <a:rPr lang="en-US" dirty="0"/>
              <a:t> Implement train-test splitting and cross-validation</a:t>
            </a:r>
          </a:p>
          <a:p>
            <a:r>
              <a:rPr lang="en-US" dirty="0"/>
              <a:t> Fit Logistic Regression models using </a:t>
            </a:r>
            <a:r>
              <a:rPr lang="en-US" dirty="0" err="1"/>
              <a:t>glm</a:t>
            </a:r>
            <a:r>
              <a:rPr lang="en-US" dirty="0"/>
              <a:t>() and caret</a:t>
            </a:r>
          </a:p>
          <a:p>
            <a:r>
              <a:rPr lang="en-US" dirty="0"/>
              <a:t> Evaluate model performance using appropriate metrics </a:t>
            </a:r>
          </a:p>
          <a:p>
            <a:r>
              <a:rPr lang="en-US" dirty="0"/>
              <a:t>Interpret model coefficients and odds ratio</a:t>
            </a:r>
          </a:p>
          <a:p>
            <a:r>
              <a:rPr lang="en-US" dirty="0" err="1"/>
              <a:t>Goal:Predict</a:t>
            </a:r>
            <a:r>
              <a:rPr lang="en-US" dirty="0"/>
              <a:t> the presence of Cardiovascular Disease(CVD)</a:t>
            </a:r>
          </a:p>
        </p:txBody>
      </p:sp>
    </p:spTree>
    <p:extLst>
      <p:ext uri="{BB962C8B-B14F-4D97-AF65-F5344CB8AC3E}">
        <p14:creationId xmlns:p14="http://schemas.microsoft.com/office/powerpoint/2010/main" val="114370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C53D-89A5-A237-D62D-25A995C7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1:Data Import and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1C4E4-98EF-5509-A87D-0DE4A19A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contains 2500 observations with 16  health-related variables.</a:t>
            </a:r>
          </a:p>
          <a:p>
            <a:r>
              <a:rPr lang="en-US" dirty="0"/>
              <a:t>After checking for missing values  the dataset had no missing values.</a:t>
            </a:r>
          </a:p>
          <a:p>
            <a:r>
              <a:rPr lang="en-US" dirty="0"/>
              <a:t>The bar plot shows that </a:t>
            </a:r>
            <a:r>
              <a:rPr lang="en-US" dirty="0" err="1"/>
              <a:t>thedataset</a:t>
            </a:r>
            <a:r>
              <a:rPr lang="en-US" dirty="0"/>
              <a:t> is imbalanced as more patients had Cardiovascular disease(2247 patients) than those not having The disease(253 patients).</a:t>
            </a:r>
          </a:p>
        </p:txBody>
      </p:sp>
    </p:spTree>
    <p:extLst>
      <p:ext uri="{BB962C8B-B14F-4D97-AF65-F5344CB8AC3E}">
        <p14:creationId xmlns:p14="http://schemas.microsoft.com/office/powerpoint/2010/main" val="166682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6FB1-EDB7-7D2C-D13E-1AE805B7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 :Data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B87F1-1AC8-5D7C-3739-5C4A73146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categorical variables were converted to factors : Gender, Smoking, Alcohol, </a:t>
            </a:r>
            <a:r>
              <a:rPr lang="en-US" dirty="0" err="1"/>
              <a:t>Familyhistory</a:t>
            </a:r>
            <a:r>
              <a:rPr lang="en-US" dirty="0"/>
              <a:t>, Medication Adherence, Urban residence to ensure compatibility with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11276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BF3-AA37-EFA6-CC61-4B3D0BD10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 :Data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6940B-F463-1708-CB93-43149DE6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 Split the data into 70% training and 30% testing using stratified sampling (to pre-serve </a:t>
            </a:r>
            <a:r>
              <a:rPr lang="en-US" dirty="0" err="1"/>
              <a:t>clas</a:t>
            </a:r>
            <a:r>
              <a:rPr lang="en-US" dirty="0"/>
              <a:t> balance)</a:t>
            </a:r>
          </a:p>
          <a:p>
            <a:r>
              <a:rPr lang="en-US" dirty="0"/>
              <a:t>The train data had 1751 observations while the test data had 749 observations.</a:t>
            </a:r>
          </a:p>
          <a:p>
            <a:r>
              <a:rPr lang="en-US" dirty="0"/>
              <a:t>Stratified sampling was used to preserve class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87651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1256-B6F6-CA0E-ACE7-280DC7B3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 :Model Training with </a:t>
            </a:r>
            <a:r>
              <a:rPr lang="en-US" dirty="0" err="1"/>
              <a:t>trainControl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D1734-A023-09BF-2E21-4626C075E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logistic regression model was trained using 10-fold cross –validation.</a:t>
            </a:r>
          </a:p>
          <a:p>
            <a:r>
              <a:rPr lang="en-US" dirty="0"/>
              <a:t>The odds ratios were then obtained using the tab _ model () function.</a:t>
            </a:r>
          </a:p>
          <a:p>
            <a:r>
              <a:rPr lang="en-US" dirty="0"/>
              <a:t>Interpretation : From the results, the most significant predictors for </a:t>
            </a:r>
            <a:r>
              <a:rPr lang="en-US" dirty="0" err="1"/>
              <a:t>CardioVascular</a:t>
            </a:r>
            <a:r>
              <a:rPr lang="en-US" dirty="0"/>
              <a:t> Disease are : Glucose(2.15), Cholesterol(1.84) and Age(1.77).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393C-FABF-6134-A99A-442B9D86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Interpretation of the Odds Ratios for the Above Stated Predictors.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DB261-44FD-6190-E992-75855DFF1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Glucose(2.15) – For every 1-unit increase in glucose concentration ,the odds of CVD increase by 115%.</a:t>
            </a:r>
          </a:p>
          <a:p>
            <a:r>
              <a:rPr lang="en-US" dirty="0"/>
              <a:t>Cholesterol(1.84) – For every 1-unit increase in cholesterol levels, the odds of CVD increase by 84%.</a:t>
            </a:r>
          </a:p>
          <a:p>
            <a:r>
              <a:rPr lang="en-US" dirty="0"/>
              <a:t>Age(1.77) – For every 1-unit increase in age, the odds of CVD increase by 77%.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41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D01C-ED04-BF88-4B9D-22D75113E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7A791-732A-307A-076D-C8B7419DC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Predictions were made on the testing data and generated a Confusion Matrix.</a:t>
            </a:r>
          </a:p>
          <a:p>
            <a:r>
              <a:rPr lang="en-US" dirty="0"/>
              <a:t>Confusion Matrix Report: The model achieved a high accuracy of 90.25% indicating that it correctly classified the majority of observations.</a:t>
            </a:r>
          </a:p>
          <a:p>
            <a:r>
              <a:rPr lang="en-US" dirty="0"/>
              <a:t>Sensitivity(0.9807) is very high, meaning the model is extremely good at identifying patients with CVD.</a:t>
            </a:r>
          </a:p>
          <a:p>
            <a:r>
              <a:rPr lang="en-US" dirty="0"/>
              <a:t>Specificity(0.2000) is very low, meaning the model performs poorly in identifying patients without CVD.</a:t>
            </a:r>
          </a:p>
          <a:p>
            <a:r>
              <a:rPr lang="en-US" dirty="0"/>
              <a:t>This indicates that the model is biased towards predicting the majority </a:t>
            </a:r>
            <a:r>
              <a:rPr lang="en-US" dirty="0" err="1"/>
              <a:t>class,leading</a:t>
            </a:r>
            <a:r>
              <a:rPr lang="en-US" dirty="0"/>
              <a:t> to many false positives.</a:t>
            </a:r>
          </a:p>
          <a:p>
            <a:r>
              <a:rPr lang="en-US" dirty="0"/>
              <a:t>The balanced accuracy (0.5904) </a:t>
            </a:r>
            <a:r>
              <a:rPr lang="en-US" dirty="0" err="1"/>
              <a:t>furher</a:t>
            </a:r>
            <a:r>
              <a:rPr lang="en-US" dirty="0"/>
              <a:t> confirms that the model does not perform well across both classes.</a:t>
            </a:r>
          </a:p>
          <a:p>
            <a:r>
              <a:rPr lang="en-US" dirty="0"/>
              <a:t>Conclusion: The Logistic Regression Model </a:t>
            </a:r>
            <a:r>
              <a:rPr lang="en-US" dirty="0" err="1"/>
              <a:t>demonstreates</a:t>
            </a:r>
            <a:r>
              <a:rPr lang="en-US" dirty="0"/>
              <a:t> strong predictive ability in identifying CVD cases but struggles to correctly classify non-CVD cases.</a:t>
            </a:r>
          </a:p>
        </p:txBody>
      </p:sp>
    </p:spTree>
    <p:extLst>
      <p:ext uri="{BB962C8B-B14F-4D97-AF65-F5344CB8AC3E}">
        <p14:creationId xmlns:p14="http://schemas.microsoft.com/office/powerpoint/2010/main" val="798558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6F0B-6C14-3F36-3AD9-DBDAD5BD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and AUC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798AF-CA35-25A4-AAA8-BCAB90FFE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ROC curve was plotted to evaluate the model’s ability to distinguish between patients with and without CVD disease.</a:t>
            </a:r>
          </a:p>
          <a:p>
            <a:r>
              <a:rPr lang="en-US" dirty="0"/>
              <a:t>The area (AUC) was  =0.8395,,,therefore the model falls into the “very good” performance category.</a:t>
            </a:r>
          </a:p>
          <a:p>
            <a:r>
              <a:rPr lang="en-US" dirty="0"/>
              <a:t>Final Conclusion : The model is highly effective for early detection of cardiovascular disease , making it valuable in healthcare settings though it has a </a:t>
            </a:r>
            <a:r>
              <a:rPr lang="en-US"/>
              <a:t>low specificity.</a:t>
            </a:r>
          </a:p>
        </p:txBody>
      </p:sp>
    </p:spTree>
    <p:extLst>
      <p:ext uri="{BB962C8B-B14F-4D97-AF65-F5344CB8AC3E}">
        <p14:creationId xmlns:p14="http://schemas.microsoft.com/office/powerpoint/2010/main" val="153380579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212</TotalTime>
  <Words>561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MACHINE LEARNING ASSIGNMENT ONE REPORT</vt:lpstr>
      <vt:lpstr>Assignment Overview</vt:lpstr>
      <vt:lpstr>Task 1:Data Import and Exploration</vt:lpstr>
      <vt:lpstr>Task 2 :Data Preprocessing</vt:lpstr>
      <vt:lpstr>Task 3 :Data Partitioning</vt:lpstr>
      <vt:lpstr>Task 4 :Model Training with trainControl</vt:lpstr>
      <vt:lpstr>Interpretation of the Odds Ratios for the Above Stated Predictors.</vt:lpstr>
      <vt:lpstr>Task 5: Model Evaluation</vt:lpstr>
      <vt:lpstr>ROC Curve and AUC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shear</dc:creator>
  <cp:lastModifiedBy>allan shear</cp:lastModifiedBy>
  <cp:revision>1</cp:revision>
  <dcterms:created xsi:type="dcterms:W3CDTF">2026-04-01T07:43:22Z</dcterms:created>
  <dcterms:modified xsi:type="dcterms:W3CDTF">2026-04-13T06:14:31Z</dcterms:modified>
</cp:coreProperties>
</file>