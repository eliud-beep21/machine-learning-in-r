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F1FC19-0911-4305-8AD8-11B01FE86177}"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DF1F8-3DAE-4C7E-8481-71B09690CCFD}" type="slidenum">
              <a:rPr lang="en-US" smtClean="0"/>
              <a:t>‹#›</a:t>
            </a:fld>
            <a:endParaRPr lang="en-US"/>
          </a:p>
        </p:txBody>
      </p:sp>
    </p:spTree>
    <p:extLst>
      <p:ext uri="{BB962C8B-B14F-4D97-AF65-F5344CB8AC3E}">
        <p14:creationId xmlns:p14="http://schemas.microsoft.com/office/powerpoint/2010/main" val="1115230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F1FC19-0911-4305-8AD8-11B01FE86177}"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DF1F8-3DAE-4C7E-8481-71B09690CCFD}" type="slidenum">
              <a:rPr lang="en-US" smtClean="0"/>
              <a:t>‹#›</a:t>
            </a:fld>
            <a:endParaRPr lang="en-US"/>
          </a:p>
        </p:txBody>
      </p:sp>
    </p:spTree>
    <p:extLst>
      <p:ext uri="{BB962C8B-B14F-4D97-AF65-F5344CB8AC3E}">
        <p14:creationId xmlns:p14="http://schemas.microsoft.com/office/powerpoint/2010/main" val="3764777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F1FC19-0911-4305-8AD8-11B01FE86177}"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DF1F8-3DAE-4C7E-8481-71B09690CCFD}" type="slidenum">
              <a:rPr lang="en-US" smtClean="0"/>
              <a:t>‹#›</a:t>
            </a:fld>
            <a:endParaRPr lang="en-US"/>
          </a:p>
        </p:txBody>
      </p:sp>
    </p:spTree>
    <p:extLst>
      <p:ext uri="{BB962C8B-B14F-4D97-AF65-F5344CB8AC3E}">
        <p14:creationId xmlns:p14="http://schemas.microsoft.com/office/powerpoint/2010/main" val="2404228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F1FC19-0911-4305-8AD8-11B01FE86177}"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0DF1F8-3DAE-4C7E-8481-71B09690CCFD}" type="slidenum">
              <a:rPr lang="en-US" smtClean="0"/>
              <a:t>‹#›</a:t>
            </a:fld>
            <a:endParaRPr lang="en-US"/>
          </a:p>
        </p:txBody>
      </p:sp>
    </p:spTree>
    <p:extLst>
      <p:ext uri="{BB962C8B-B14F-4D97-AF65-F5344CB8AC3E}">
        <p14:creationId xmlns:p14="http://schemas.microsoft.com/office/powerpoint/2010/main" val="699185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F1FC19-0911-4305-8AD8-11B01FE86177}"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0DF1F8-3DAE-4C7E-8481-71B09690CCFD}" type="slidenum">
              <a:rPr lang="en-US" smtClean="0"/>
              <a:t>‹#›</a:t>
            </a:fld>
            <a:endParaRPr lang="en-US"/>
          </a:p>
        </p:txBody>
      </p:sp>
    </p:spTree>
    <p:extLst>
      <p:ext uri="{BB962C8B-B14F-4D97-AF65-F5344CB8AC3E}">
        <p14:creationId xmlns:p14="http://schemas.microsoft.com/office/powerpoint/2010/main" val="347058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F1FC19-0911-4305-8AD8-11B01FE86177}"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0DF1F8-3DAE-4C7E-8481-71B09690CCFD}" type="slidenum">
              <a:rPr lang="en-US" smtClean="0"/>
              <a:t>‹#›</a:t>
            </a:fld>
            <a:endParaRPr lang="en-US"/>
          </a:p>
        </p:txBody>
      </p:sp>
    </p:spTree>
    <p:extLst>
      <p:ext uri="{BB962C8B-B14F-4D97-AF65-F5344CB8AC3E}">
        <p14:creationId xmlns:p14="http://schemas.microsoft.com/office/powerpoint/2010/main" val="3050809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F1FC19-0911-4305-8AD8-11B01FE86177}"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0DF1F8-3DAE-4C7E-8481-71B09690CCFD}" type="slidenum">
              <a:rPr lang="en-US" smtClean="0"/>
              <a:t>‹#›</a:t>
            </a:fld>
            <a:endParaRPr lang="en-US"/>
          </a:p>
        </p:txBody>
      </p:sp>
    </p:spTree>
    <p:extLst>
      <p:ext uri="{BB962C8B-B14F-4D97-AF65-F5344CB8AC3E}">
        <p14:creationId xmlns:p14="http://schemas.microsoft.com/office/powerpoint/2010/main" val="613340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F1FC19-0911-4305-8AD8-11B01FE86177}"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0DF1F8-3DAE-4C7E-8481-71B09690CCFD}" type="slidenum">
              <a:rPr lang="en-US" smtClean="0"/>
              <a:t>‹#›</a:t>
            </a:fld>
            <a:endParaRPr lang="en-US"/>
          </a:p>
        </p:txBody>
      </p:sp>
    </p:spTree>
    <p:extLst>
      <p:ext uri="{BB962C8B-B14F-4D97-AF65-F5344CB8AC3E}">
        <p14:creationId xmlns:p14="http://schemas.microsoft.com/office/powerpoint/2010/main" val="2662077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0DF1F8-3DAE-4C7E-8481-71B09690CCFD}" type="slidenum">
              <a:rPr lang="en-US" smtClean="0"/>
              <a:t>‹#›</a:t>
            </a:fld>
            <a:endParaRPr lang="en-US"/>
          </a:p>
        </p:txBody>
      </p:sp>
      <p:sp>
        <p:nvSpPr>
          <p:cNvPr id="5" name="Date Placeholder 4"/>
          <p:cNvSpPr>
            <a:spLocks noGrp="1"/>
          </p:cNvSpPr>
          <p:nvPr>
            <p:ph type="dt" sz="half" idx="10"/>
          </p:nvPr>
        </p:nvSpPr>
        <p:spPr/>
        <p:txBody>
          <a:bodyPr/>
          <a:lstStyle/>
          <a:p>
            <a:fld id="{62F1FC19-0911-4305-8AD8-11B01FE86177}" type="datetimeFigureOut">
              <a:rPr lang="en-US" smtClean="0"/>
              <a:t>4/20/2026</a:t>
            </a:fld>
            <a:endParaRPr lang="en-US"/>
          </a:p>
        </p:txBody>
      </p:sp>
    </p:spTree>
    <p:extLst>
      <p:ext uri="{BB962C8B-B14F-4D97-AF65-F5344CB8AC3E}">
        <p14:creationId xmlns:p14="http://schemas.microsoft.com/office/powerpoint/2010/main" val="2432182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F1FC19-0911-4305-8AD8-11B01FE86177}"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DF1F8-3DAE-4C7E-8481-71B09690CCFD}" type="slidenum">
              <a:rPr lang="en-US" smtClean="0"/>
              <a:t>‹#›</a:t>
            </a:fld>
            <a:endParaRPr lang="en-US"/>
          </a:p>
        </p:txBody>
      </p:sp>
    </p:spTree>
    <p:extLst>
      <p:ext uri="{BB962C8B-B14F-4D97-AF65-F5344CB8AC3E}">
        <p14:creationId xmlns:p14="http://schemas.microsoft.com/office/powerpoint/2010/main" val="1042362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F1FC19-0911-4305-8AD8-11B01FE86177}"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DF1F8-3DAE-4C7E-8481-71B09690CCF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15931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F1FC19-0911-4305-8AD8-11B01FE86177}"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DF1F8-3DAE-4C7E-8481-71B09690CCFD}" type="slidenum">
              <a:rPr lang="en-US" smtClean="0"/>
              <a:t>‹#›</a:t>
            </a:fld>
            <a:endParaRPr lang="en-US"/>
          </a:p>
        </p:txBody>
      </p:sp>
    </p:spTree>
    <p:extLst>
      <p:ext uri="{BB962C8B-B14F-4D97-AF65-F5344CB8AC3E}">
        <p14:creationId xmlns:p14="http://schemas.microsoft.com/office/powerpoint/2010/main" val="762338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F1FC19-0911-4305-8AD8-11B01FE86177}"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DF1F8-3DAE-4C7E-8481-71B09690CCF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985019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F1FC19-0911-4305-8AD8-11B01FE86177}"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DF1F8-3DAE-4C7E-8481-71B09690CCFD}" type="slidenum">
              <a:rPr lang="en-US" smtClean="0"/>
              <a:t>‹#›</a:t>
            </a:fld>
            <a:endParaRPr lang="en-US"/>
          </a:p>
        </p:txBody>
      </p:sp>
    </p:spTree>
    <p:extLst>
      <p:ext uri="{BB962C8B-B14F-4D97-AF65-F5344CB8AC3E}">
        <p14:creationId xmlns:p14="http://schemas.microsoft.com/office/powerpoint/2010/main" val="2685766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F1FC19-0911-4305-8AD8-11B01FE86177}"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DF1F8-3DAE-4C7E-8481-71B09690CCFD}" type="slidenum">
              <a:rPr lang="en-US" smtClean="0"/>
              <a:t>‹#›</a:t>
            </a:fld>
            <a:endParaRPr lang="en-US"/>
          </a:p>
        </p:txBody>
      </p:sp>
    </p:spTree>
    <p:extLst>
      <p:ext uri="{BB962C8B-B14F-4D97-AF65-F5344CB8AC3E}">
        <p14:creationId xmlns:p14="http://schemas.microsoft.com/office/powerpoint/2010/main" val="28367214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F1FC19-0911-4305-8AD8-11B01FE86177}"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0DF1F8-3DAE-4C7E-8481-71B09690CCFD}" type="slidenum">
              <a:rPr lang="en-US" smtClean="0"/>
              <a:t>‹#›</a:t>
            </a:fld>
            <a:endParaRPr lang="en-US"/>
          </a:p>
        </p:txBody>
      </p:sp>
    </p:spTree>
    <p:extLst>
      <p:ext uri="{BB962C8B-B14F-4D97-AF65-F5344CB8AC3E}">
        <p14:creationId xmlns:p14="http://schemas.microsoft.com/office/powerpoint/2010/main" val="272735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2F1FC19-0911-4305-8AD8-11B01FE86177}" type="datetimeFigureOut">
              <a:rPr lang="en-US" smtClean="0"/>
              <a:t>4/20/2026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90DF1F8-3DAE-4C7E-8481-71B09690CCFD}" type="slidenum">
              <a:rPr lang="en-US" smtClean="0"/>
              <a:t>‹#›</a:t>
            </a:fld>
            <a:endParaRPr lang="en-US"/>
          </a:p>
        </p:txBody>
      </p:sp>
    </p:spTree>
    <p:extLst>
      <p:ext uri="{BB962C8B-B14F-4D97-AF65-F5344CB8AC3E}">
        <p14:creationId xmlns:p14="http://schemas.microsoft.com/office/powerpoint/2010/main" val="128647114"/>
      </p:ext>
    </p:extLst>
  </p:cSld>
  <p:clrMap bg1="lt1" tx1="dk1" bg2="lt2" tx2="dk2" accent1="accent1" accent2="accent2" accent3="accent3" accent4="accent4" accent5="accent5" accent6="accent6" hlink="hlink" folHlink="folHlink"/>
  <p:sldLayoutIdLst>
    <p:sldLayoutId id="2147483855" r:id="rId1"/>
    <p:sldLayoutId id="2147483856" r:id="rId2"/>
    <p:sldLayoutId id="2147483857"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 id="2147483866" r:id="rId12"/>
    <p:sldLayoutId id="2147483867" r:id="rId13"/>
    <p:sldLayoutId id="2147483868" r:id="rId14"/>
    <p:sldLayoutId id="2147483869" r:id="rId15"/>
    <p:sldLayoutId id="214748387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B31B7-521B-F499-D7B9-689D34167AB4}"/>
              </a:ext>
            </a:extLst>
          </p:cNvPr>
          <p:cNvSpPr>
            <a:spLocks noGrp="1"/>
          </p:cNvSpPr>
          <p:nvPr>
            <p:ph type="ctrTitle"/>
          </p:nvPr>
        </p:nvSpPr>
        <p:spPr/>
        <p:txBody>
          <a:bodyPr>
            <a:normAutofit fontScale="90000"/>
          </a:bodyPr>
          <a:lstStyle/>
          <a:p>
            <a:r>
              <a:rPr lang="en-US" dirty="0"/>
              <a:t>ML ASSIGNMENT TWO REPORT:MULTI-MODEL CLASSIFICAION FOR CVD PREDICTION</a:t>
            </a:r>
          </a:p>
        </p:txBody>
      </p:sp>
      <p:sp>
        <p:nvSpPr>
          <p:cNvPr id="3" name="Subtitle 2">
            <a:extLst>
              <a:ext uri="{FF2B5EF4-FFF2-40B4-BE49-F238E27FC236}">
                <a16:creationId xmlns:a16="http://schemas.microsoft.com/office/drawing/2014/main" id="{5BE70261-8928-798B-FF6D-5C5BC8151EA5}"/>
              </a:ext>
            </a:extLst>
          </p:cNvPr>
          <p:cNvSpPr>
            <a:spLocks noGrp="1"/>
          </p:cNvSpPr>
          <p:nvPr>
            <p:ph type="subTitle" idx="1"/>
          </p:nvPr>
        </p:nvSpPr>
        <p:spPr/>
        <p:txBody>
          <a:bodyPr/>
          <a:lstStyle/>
          <a:p>
            <a:r>
              <a:rPr lang="en-US" dirty="0"/>
              <a:t>Authored by Eliud Mule</a:t>
            </a:r>
          </a:p>
        </p:txBody>
      </p:sp>
    </p:spTree>
    <p:extLst>
      <p:ext uri="{BB962C8B-B14F-4D97-AF65-F5344CB8AC3E}">
        <p14:creationId xmlns:p14="http://schemas.microsoft.com/office/powerpoint/2010/main" val="1985097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57BB6-41B4-F334-445F-D17254104AA1}"/>
              </a:ext>
            </a:extLst>
          </p:cNvPr>
          <p:cNvSpPr>
            <a:spLocks noGrp="1"/>
          </p:cNvSpPr>
          <p:nvPr>
            <p:ph type="title"/>
          </p:nvPr>
        </p:nvSpPr>
        <p:spPr/>
        <p:txBody>
          <a:bodyPr/>
          <a:lstStyle/>
          <a:p>
            <a:r>
              <a:rPr lang="en-US" dirty="0"/>
              <a:t>Assignment Overview</a:t>
            </a:r>
          </a:p>
        </p:txBody>
      </p:sp>
      <p:sp>
        <p:nvSpPr>
          <p:cNvPr id="3" name="Content Placeholder 2">
            <a:extLst>
              <a:ext uri="{FF2B5EF4-FFF2-40B4-BE49-F238E27FC236}">
                <a16:creationId xmlns:a16="http://schemas.microsoft.com/office/drawing/2014/main" id="{88E5E164-4A4F-77AA-75C5-42F44E6BA797}"/>
              </a:ext>
            </a:extLst>
          </p:cNvPr>
          <p:cNvSpPr>
            <a:spLocks noGrp="1"/>
          </p:cNvSpPr>
          <p:nvPr>
            <p:ph idx="1"/>
          </p:nvPr>
        </p:nvSpPr>
        <p:spPr/>
        <p:txBody>
          <a:bodyPr/>
          <a:lstStyle/>
          <a:p>
            <a:pPr marL="0" indent="0">
              <a:buNone/>
            </a:pPr>
            <a:r>
              <a:rPr lang="en-US" dirty="0"/>
              <a:t>• Implement multiple classification algorithms in R (Logistic, KNN, SVM, RF) </a:t>
            </a:r>
          </a:p>
          <a:p>
            <a:pPr marL="0" indent="0">
              <a:buNone/>
            </a:pPr>
            <a:r>
              <a:rPr lang="en-US" dirty="0"/>
              <a:t>• Apply appropriate preprocessing for different model types</a:t>
            </a:r>
          </a:p>
          <a:p>
            <a:pPr marL="0" indent="0">
              <a:buNone/>
            </a:pPr>
            <a:r>
              <a:rPr lang="en-US" dirty="0"/>
              <a:t> • Create and use </a:t>
            </a:r>
            <a:r>
              <a:rPr lang="en-US" dirty="0" err="1"/>
              <a:t>trainControl</a:t>
            </a:r>
            <a:r>
              <a:rPr lang="en-US" dirty="0"/>
              <a:t> schemes for cross-validation</a:t>
            </a:r>
          </a:p>
          <a:p>
            <a:pPr marL="0" indent="0">
              <a:buNone/>
            </a:pPr>
            <a:r>
              <a:rPr lang="en-US" dirty="0"/>
              <a:t> • Evaluate and compare model performance using multiple metrics</a:t>
            </a:r>
          </a:p>
          <a:p>
            <a:pPr marL="0" indent="0">
              <a:buNone/>
            </a:pPr>
            <a:r>
              <a:rPr lang="en-US" dirty="0"/>
              <a:t> • Interpret model-specific outputs (coefficients, importance, support vectors) </a:t>
            </a:r>
          </a:p>
          <a:p>
            <a:pPr marL="0" indent="0">
              <a:buNone/>
            </a:pPr>
            <a:r>
              <a:rPr lang="en-US" dirty="0"/>
              <a:t>• Make evidence-based model selection recommendations.</a:t>
            </a:r>
          </a:p>
        </p:txBody>
      </p:sp>
    </p:spTree>
    <p:extLst>
      <p:ext uri="{BB962C8B-B14F-4D97-AF65-F5344CB8AC3E}">
        <p14:creationId xmlns:p14="http://schemas.microsoft.com/office/powerpoint/2010/main" val="1684346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63935-4F78-FA7E-EAD8-6A2025E5C9B0}"/>
              </a:ext>
            </a:extLst>
          </p:cNvPr>
          <p:cNvSpPr>
            <a:spLocks noGrp="1"/>
          </p:cNvSpPr>
          <p:nvPr>
            <p:ph type="title"/>
          </p:nvPr>
        </p:nvSpPr>
        <p:spPr/>
        <p:txBody>
          <a:bodyPr/>
          <a:lstStyle/>
          <a:p>
            <a:r>
              <a:rPr lang="en-US" dirty="0"/>
              <a:t>Task 1 : Data Import and Exploration</a:t>
            </a:r>
          </a:p>
        </p:txBody>
      </p:sp>
      <p:sp>
        <p:nvSpPr>
          <p:cNvPr id="3" name="Content Placeholder 2">
            <a:extLst>
              <a:ext uri="{FF2B5EF4-FFF2-40B4-BE49-F238E27FC236}">
                <a16:creationId xmlns:a16="http://schemas.microsoft.com/office/drawing/2014/main" id="{E46BFD9E-84D7-E79E-C9FA-8D90AF745992}"/>
              </a:ext>
            </a:extLst>
          </p:cNvPr>
          <p:cNvSpPr>
            <a:spLocks noGrp="1"/>
          </p:cNvSpPr>
          <p:nvPr>
            <p:ph idx="1"/>
          </p:nvPr>
        </p:nvSpPr>
        <p:spPr/>
        <p:txBody>
          <a:bodyPr/>
          <a:lstStyle/>
          <a:p>
            <a:r>
              <a:rPr lang="en-US" dirty="0"/>
              <a:t>The dataset contains 2500 observations with 16  health-related variables.</a:t>
            </a:r>
          </a:p>
          <a:p>
            <a:r>
              <a:rPr lang="en-US" dirty="0"/>
              <a:t>After checking for missing values  the dataset had no missing values.</a:t>
            </a:r>
          </a:p>
          <a:p>
            <a:r>
              <a:rPr lang="en-US" dirty="0"/>
              <a:t>The bar plot shows that </a:t>
            </a:r>
            <a:r>
              <a:rPr lang="en-US" dirty="0" err="1"/>
              <a:t>thedataset</a:t>
            </a:r>
            <a:r>
              <a:rPr lang="en-US" dirty="0"/>
              <a:t> is imbalanced as more patients had Cardiovascular disease(2247 patients) than those not having The disease(253 patients).</a:t>
            </a:r>
          </a:p>
          <a:p>
            <a:r>
              <a:rPr lang="en-US" dirty="0"/>
              <a:t>The Class Imbalance ratio was 8.881.</a:t>
            </a:r>
          </a:p>
        </p:txBody>
      </p:sp>
    </p:spTree>
    <p:extLst>
      <p:ext uri="{BB962C8B-B14F-4D97-AF65-F5344CB8AC3E}">
        <p14:creationId xmlns:p14="http://schemas.microsoft.com/office/powerpoint/2010/main" val="1250756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D06BC-4B8C-29F0-AFBD-3283BD3891C2}"/>
              </a:ext>
            </a:extLst>
          </p:cNvPr>
          <p:cNvSpPr>
            <a:spLocks noGrp="1"/>
          </p:cNvSpPr>
          <p:nvPr>
            <p:ph type="title"/>
          </p:nvPr>
        </p:nvSpPr>
        <p:spPr/>
        <p:txBody>
          <a:bodyPr/>
          <a:lstStyle/>
          <a:p>
            <a:r>
              <a:rPr lang="en-US" dirty="0"/>
              <a:t>Task 2 : Data Preprocessing</a:t>
            </a:r>
          </a:p>
        </p:txBody>
      </p:sp>
      <p:sp>
        <p:nvSpPr>
          <p:cNvPr id="3" name="Content Placeholder 2">
            <a:extLst>
              <a:ext uri="{FF2B5EF4-FFF2-40B4-BE49-F238E27FC236}">
                <a16:creationId xmlns:a16="http://schemas.microsoft.com/office/drawing/2014/main" id="{4BB45023-90C3-B59E-C953-E69BB6E39E22}"/>
              </a:ext>
            </a:extLst>
          </p:cNvPr>
          <p:cNvSpPr>
            <a:spLocks noGrp="1"/>
          </p:cNvSpPr>
          <p:nvPr>
            <p:ph idx="1"/>
          </p:nvPr>
        </p:nvSpPr>
        <p:spPr/>
        <p:txBody>
          <a:bodyPr/>
          <a:lstStyle/>
          <a:p>
            <a:r>
              <a:rPr lang="en-US" dirty="0"/>
              <a:t>The following categorical variables were converted to factors : Gender, Smoking, Alcohol, </a:t>
            </a:r>
            <a:r>
              <a:rPr lang="en-US" dirty="0" err="1"/>
              <a:t>Familyhistory</a:t>
            </a:r>
            <a:r>
              <a:rPr lang="en-US" dirty="0"/>
              <a:t>, Medication Adherence, Urban residence to ensure compatibility with machine learning models.</a:t>
            </a:r>
          </a:p>
          <a:p>
            <a:endParaRPr lang="en-US" dirty="0"/>
          </a:p>
        </p:txBody>
      </p:sp>
    </p:spTree>
    <p:extLst>
      <p:ext uri="{BB962C8B-B14F-4D97-AF65-F5344CB8AC3E}">
        <p14:creationId xmlns:p14="http://schemas.microsoft.com/office/powerpoint/2010/main" val="2597260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D1EF9-D77A-828B-9D4A-AC5EC4C438F6}"/>
              </a:ext>
            </a:extLst>
          </p:cNvPr>
          <p:cNvSpPr>
            <a:spLocks noGrp="1"/>
          </p:cNvSpPr>
          <p:nvPr>
            <p:ph type="title"/>
          </p:nvPr>
        </p:nvSpPr>
        <p:spPr/>
        <p:txBody>
          <a:bodyPr/>
          <a:lstStyle/>
          <a:p>
            <a:r>
              <a:rPr lang="en-US" dirty="0"/>
              <a:t>Task 3 : Data Partitioning</a:t>
            </a:r>
          </a:p>
        </p:txBody>
      </p:sp>
      <p:sp>
        <p:nvSpPr>
          <p:cNvPr id="3" name="Content Placeholder 2">
            <a:extLst>
              <a:ext uri="{FF2B5EF4-FFF2-40B4-BE49-F238E27FC236}">
                <a16:creationId xmlns:a16="http://schemas.microsoft.com/office/drawing/2014/main" id="{99270B50-409C-94E2-4DFD-FB9879949936}"/>
              </a:ext>
            </a:extLst>
          </p:cNvPr>
          <p:cNvSpPr>
            <a:spLocks noGrp="1"/>
          </p:cNvSpPr>
          <p:nvPr>
            <p:ph idx="1"/>
          </p:nvPr>
        </p:nvSpPr>
        <p:spPr/>
        <p:txBody>
          <a:bodyPr>
            <a:normAutofit/>
          </a:bodyPr>
          <a:lstStyle/>
          <a:p>
            <a:r>
              <a:rPr lang="en-US" dirty="0"/>
              <a:t> Split the data into 70% training and 30% testing using stratified sampling (to pre-serve </a:t>
            </a:r>
            <a:r>
              <a:rPr lang="en-US" dirty="0" err="1"/>
              <a:t>clas</a:t>
            </a:r>
            <a:r>
              <a:rPr lang="en-US" dirty="0"/>
              <a:t> balance)</a:t>
            </a:r>
          </a:p>
          <a:p>
            <a:r>
              <a:rPr lang="en-US" dirty="0"/>
              <a:t>The train data had 1751 observations while the test data had 749 observations.</a:t>
            </a:r>
          </a:p>
          <a:p>
            <a:r>
              <a:rPr lang="en-US" dirty="0"/>
              <a:t>Stratified sampling was used to preserve class distribution.</a:t>
            </a:r>
          </a:p>
          <a:p>
            <a:r>
              <a:rPr lang="en-US" dirty="0"/>
              <a:t>Scaling was then done : Numeric variables were standardized using mean-centering and scaling (mean = 0, standard deviation = 1) using the </a:t>
            </a:r>
            <a:r>
              <a:rPr lang="en-US" dirty="0" err="1"/>
              <a:t>preProcess</a:t>
            </a:r>
            <a:r>
              <a:rPr lang="en-US" dirty="0"/>
              <a:t>() function.</a:t>
            </a:r>
          </a:p>
          <a:p>
            <a:r>
              <a:rPr lang="en-US" dirty="0"/>
              <a:t>This step is essential for distance-based models such as KNN and margin-based models like SVM, which are sensitive to variable scale.</a:t>
            </a:r>
          </a:p>
        </p:txBody>
      </p:sp>
    </p:spTree>
    <p:extLst>
      <p:ext uri="{BB962C8B-B14F-4D97-AF65-F5344CB8AC3E}">
        <p14:creationId xmlns:p14="http://schemas.microsoft.com/office/powerpoint/2010/main" val="952405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A2256-375C-3A29-B10B-6BD00A93A3D8}"/>
              </a:ext>
            </a:extLst>
          </p:cNvPr>
          <p:cNvSpPr>
            <a:spLocks noGrp="1"/>
          </p:cNvSpPr>
          <p:nvPr>
            <p:ph type="title"/>
          </p:nvPr>
        </p:nvSpPr>
        <p:spPr/>
        <p:txBody>
          <a:bodyPr/>
          <a:lstStyle/>
          <a:p>
            <a:r>
              <a:rPr lang="en-US" dirty="0"/>
              <a:t>Task 4 : </a:t>
            </a:r>
            <a:r>
              <a:rPr lang="en-US" dirty="0" err="1"/>
              <a:t>TrainControl</a:t>
            </a:r>
            <a:r>
              <a:rPr lang="en-US" dirty="0"/>
              <a:t> Scheme</a:t>
            </a:r>
          </a:p>
        </p:txBody>
      </p:sp>
      <p:sp>
        <p:nvSpPr>
          <p:cNvPr id="3" name="Content Placeholder 2">
            <a:extLst>
              <a:ext uri="{FF2B5EF4-FFF2-40B4-BE49-F238E27FC236}">
                <a16:creationId xmlns:a16="http://schemas.microsoft.com/office/drawing/2014/main" id="{90CC479E-7BF3-1164-AEE1-6109409A01CE}"/>
              </a:ext>
            </a:extLst>
          </p:cNvPr>
          <p:cNvSpPr>
            <a:spLocks noGrp="1"/>
          </p:cNvSpPr>
          <p:nvPr>
            <p:ph idx="1"/>
          </p:nvPr>
        </p:nvSpPr>
        <p:spPr/>
        <p:txBody>
          <a:bodyPr/>
          <a:lstStyle/>
          <a:p>
            <a:r>
              <a:rPr lang="en-US" dirty="0"/>
              <a:t>A </a:t>
            </a:r>
            <a:r>
              <a:rPr lang="en-US" dirty="0" err="1"/>
              <a:t>trainControl</a:t>
            </a:r>
            <a:r>
              <a:rPr lang="en-US" dirty="0"/>
              <a:t> scheme was defined using 10-fold cross-validation to improve model evaluation reliability.</a:t>
            </a:r>
          </a:p>
          <a:p>
            <a:r>
              <a:rPr lang="en-US" dirty="0"/>
              <a:t>Cross-validation is used to evaluate model performance in a more reliable and robust manner. Instead of relying on a single train-test split, the data is divided into multiple folds, and the model is trained and validated across different </a:t>
            </a:r>
            <a:r>
              <a:rPr lang="en-US" dirty="0" err="1"/>
              <a:t>subsets.This</a:t>
            </a:r>
            <a:r>
              <a:rPr lang="en-US" dirty="0"/>
              <a:t> reduces the risk of overfitting and ensures that the model generalizes well to unseen data.</a:t>
            </a:r>
          </a:p>
        </p:txBody>
      </p:sp>
    </p:spTree>
    <p:extLst>
      <p:ext uri="{BB962C8B-B14F-4D97-AF65-F5344CB8AC3E}">
        <p14:creationId xmlns:p14="http://schemas.microsoft.com/office/powerpoint/2010/main" val="2010377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A9D0A-808F-BC84-38CE-F63A4965970B}"/>
              </a:ext>
            </a:extLst>
          </p:cNvPr>
          <p:cNvSpPr>
            <a:spLocks noGrp="1"/>
          </p:cNvSpPr>
          <p:nvPr>
            <p:ph type="title"/>
          </p:nvPr>
        </p:nvSpPr>
        <p:spPr/>
        <p:txBody>
          <a:bodyPr/>
          <a:lstStyle/>
          <a:p>
            <a:r>
              <a:rPr lang="en-US" dirty="0"/>
              <a:t>Task 5 : Model Training – Logistic Regression</a:t>
            </a:r>
          </a:p>
        </p:txBody>
      </p:sp>
      <p:sp>
        <p:nvSpPr>
          <p:cNvPr id="3" name="Content Placeholder 2">
            <a:extLst>
              <a:ext uri="{FF2B5EF4-FFF2-40B4-BE49-F238E27FC236}">
                <a16:creationId xmlns:a16="http://schemas.microsoft.com/office/drawing/2014/main" id="{6C5F71B0-8988-C733-F8A6-9C668F9BCE58}"/>
              </a:ext>
            </a:extLst>
          </p:cNvPr>
          <p:cNvSpPr>
            <a:spLocks noGrp="1"/>
          </p:cNvSpPr>
          <p:nvPr>
            <p:ph idx="1"/>
          </p:nvPr>
        </p:nvSpPr>
        <p:spPr/>
        <p:txBody>
          <a:bodyPr>
            <a:normAutofit fontScale="92500" lnSpcReduction="10000"/>
          </a:bodyPr>
          <a:lstStyle/>
          <a:p>
            <a:r>
              <a:rPr lang="en-US" dirty="0"/>
              <a:t>A logistic regression model was trained using 10-fold cross –validation using method “</a:t>
            </a:r>
            <a:r>
              <a:rPr lang="en-US" dirty="0" err="1"/>
              <a:t>glm</a:t>
            </a:r>
            <a:r>
              <a:rPr lang="en-US" dirty="0"/>
              <a:t>”.</a:t>
            </a:r>
          </a:p>
          <a:p>
            <a:r>
              <a:rPr lang="en-US" dirty="0"/>
              <a:t>The odds ratios were then obtained using the </a:t>
            </a:r>
            <a:r>
              <a:rPr lang="en-US" dirty="0" err="1"/>
              <a:t>coef</a:t>
            </a:r>
            <a:r>
              <a:rPr lang="en-US" dirty="0"/>
              <a:t> function. </a:t>
            </a:r>
          </a:p>
          <a:p>
            <a:r>
              <a:rPr lang="en-US" dirty="0"/>
              <a:t>Interpretation : From the results, the most significant predictors for </a:t>
            </a:r>
            <a:r>
              <a:rPr lang="en-US" dirty="0" err="1"/>
              <a:t>CardioVascular</a:t>
            </a:r>
            <a:r>
              <a:rPr lang="en-US" dirty="0"/>
              <a:t> Disease are : Family history(2.987), Smoking1(2.34) and gender1(1.49).</a:t>
            </a:r>
          </a:p>
          <a:p>
            <a:r>
              <a:rPr lang="en-US" dirty="0"/>
              <a:t>Gender1(1.49) –Males have 1.49 times higher odds of developing   CVD compared  to  fem ales, holding all other variables constant. This suggests that        being male  is associated with an increased risk of CVD in this dataset.</a:t>
            </a:r>
          </a:p>
          <a:p>
            <a:r>
              <a:rPr lang="en-US" dirty="0"/>
              <a:t>Smoking1(2.34) –People who smoke have 2.34 times higher odds of </a:t>
            </a:r>
            <a:r>
              <a:rPr lang="en-US" dirty="0" err="1"/>
              <a:t>developingCVD</a:t>
            </a:r>
            <a:r>
              <a:rPr lang="en-US" dirty="0"/>
              <a:t> compared to non-smokers.</a:t>
            </a:r>
          </a:p>
          <a:p>
            <a:r>
              <a:rPr lang="en-US" dirty="0"/>
              <a:t>Family(2.987) –individuals with a family history of CVD are approximately 3 times more likely to develop CVD compared to those without a family history of CVD.</a:t>
            </a:r>
          </a:p>
        </p:txBody>
      </p:sp>
    </p:spTree>
    <p:extLst>
      <p:ext uri="{BB962C8B-B14F-4D97-AF65-F5344CB8AC3E}">
        <p14:creationId xmlns:p14="http://schemas.microsoft.com/office/powerpoint/2010/main" val="68135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D3976-A94C-B6A8-7C0A-C5AC98055F37}"/>
              </a:ext>
            </a:extLst>
          </p:cNvPr>
          <p:cNvSpPr>
            <a:spLocks noGrp="1"/>
          </p:cNvSpPr>
          <p:nvPr>
            <p:ph type="title"/>
          </p:nvPr>
        </p:nvSpPr>
        <p:spPr/>
        <p:txBody>
          <a:bodyPr/>
          <a:lstStyle/>
          <a:p>
            <a:r>
              <a:rPr lang="en-US" dirty="0"/>
              <a:t>Task 6 : Model Training - KNN</a:t>
            </a:r>
          </a:p>
        </p:txBody>
      </p:sp>
      <p:sp>
        <p:nvSpPr>
          <p:cNvPr id="3" name="Content Placeholder 2">
            <a:extLst>
              <a:ext uri="{FF2B5EF4-FFF2-40B4-BE49-F238E27FC236}">
                <a16:creationId xmlns:a16="http://schemas.microsoft.com/office/drawing/2014/main" id="{8A92F52B-4983-CFC1-D5FF-8915587B3ABF}"/>
              </a:ext>
            </a:extLst>
          </p:cNvPr>
          <p:cNvSpPr>
            <a:spLocks noGrp="1"/>
          </p:cNvSpPr>
          <p:nvPr>
            <p:ph idx="1"/>
          </p:nvPr>
        </p:nvSpPr>
        <p:spPr/>
        <p:txBody>
          <a:bodyPr>
            <a:normAutofit/>
          </a:bodyPr>
          <a:lstStyle/>
          <a:p>
            <a:r>
              <a:rPr lang="en-US" dirty="0"/>
              <a:t>A </a:t>
            </a:r>
            <a:r>
              <a:rPr lang="en-US" dirty="0" err="1"/>
              <a:t>knn</a:t>
            </a:r>
            <a:r>
              <a:rPr lang="en-US" dirty="0"/>
              <a:t> model was trained using the scaled data using method “</a:t>
            </a:r>
            <a:r>
              <a:rPr lang="en-US" dirty="0" err="1"/>
              <a:t>knn</a:t>
            </a:r>
            <a:r>
              <a:rPr lang="en-US" dirty="0"/>
              <a:t>”.</a:t>
            </a:r>
          </a:p>
          <a:p>
            <a:r>
              <a:rPr lang="en-US" dirty="0"/>
              <a:t>A plot of accuracy vs K was also plotted.</a:t>
            </a:r>
          </a:p>
          <a:p>
            <a:r>
              <a:rPr lang="en-US" dirty="0"/>
              <a:t>The KNN model was tuned using odd values of k from 1 to 21. The optimal value selected through cross-validation was </a:t>
            </a:r>
            <a:r>
              <a:rPr lang="en-US" b="1" dirty="0"/>
              <a:t>k = 21</a:t>
            </a:r>
            <a:r>
              <a:rPr lang="en-US" dirty="0"/>
              <a:t>, which achieved the highest ROC value of approximately </a:t>
            </a:r>
            <a:r>
              <a:rPr lang="en-US" b="1" dirty="0"/>
              <a:t>0.80</a:t>
            </a:r>
            <a:r>
              <a:rPr lang="en-US" dirty="0"/>
              <a:t>.</a:t>
            </a:r>
            <a:br>
              <a:rPr lang="en-US" dirty="0"/>
            </a:br>
            <a:r>
              <a:rPr lang="en-US" dirty="0"/>
              <a:t>The performance improved as k increased, indicating that smaller values of k led to overfitting, while larger values provided better generalization by smoothing the decision boundary.</a:t>
            </a:r>
            <a:br>
              <a:rPr lang="en-US" dirty="0"/>
            </a:br>
            <a:r>
              <a:rPr lang="en-US" dirty="0"/>
              <a:t>Therefore, k = 21 was chosen as it offers the best balance between bias and variance.</a:t>
            </a:r>
          </a:p>
          <a:p>
            <a:endParaRPr lang="en-US" dirty="0"/>
          </a:p>
        </p:txBody>
      </p:sp>
    </p:spTree>
    <p:extLst>
      <p:ext uri="{BB962C8B-B14F-4D97-AF65-F5344CB8AC3E}">
        <p14:creationId xmlns:p14="http://schemas.microsoft.com/office/powerpoint/2010/main" val="702562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A43D5-1CF8-E98F-5890-8D23A57082CA}"/>
              </a:ext>
            </a:extLst>
          </p:cNvPr>
          <p:cNvSpPr>
            <a:spLocks noGrp="1"/>
          </p:cNvSpPr>
          <p:nvPr>
            <p:ph type="title"/>
          </p:nvPr>
        </p:nvSpPr>
        <p:spPr/>
        <p:txBody>
          <a:bodyPr/>
          <a:lstStyle/>
          <a:p>
            <a:r>
              <a:rPr lang="en-US" dirty="0"/>
              <a:t>Task 7: Model Training - SVM</a:t>
            </a:r>
          </a:p>
        </p:txBody>
      </p:sp>
      <p:sp>
        <p:nvSpPr>
          <p:cNvPr id="3" name="Content Placeholder 2">
            <a:extLst>
              <a:ext uri="{FF2B5EF4-FFF2-40B4-BE49-F238E27FC236}">
                <a16:creationId xmlns:a16="http://schemas.microsoft.com/office/drawing/2014/main" id="{EABCA67D-F273-C4D1-143B-0360AADD015E}"/>
              </a:ext>
            </a:extLst>
          </p:cNvPr>
          <p:cNvSpPr>
            <a:spLocks noGrp="1"/>
          </p:cNvSpPr>
          <p:nvPr>
            <p:ph idx="1"/>
          </p:nvPr>
        </p:nvSpPr>
        <p:spPr/>
        <p:txBody>
          <a:bodyPr>
            <a:normAutofit lnSpcReduction="10000"/>
          </a:bodyPr>
          <a:lstStyle/>
          <a:p>
            <a:r>
              <a:rPr lang="en-US" dirty="0"/>
              <a:t>A SVM model was also trained using the scaled data using method “</a:t>
            </a:r>
            <a:r>
              <a:rPr lang="en-US" dirty="0" err="1"/>
              <a:t>svmRadial</a:t>
            </a:r>
            <a:r>
              <a:rPr lang="en-US" dirty="0"/>
              <a:t>”.</a:t>
            </a:r>
          </a:p>
          <a:p>
            <a:r>
              <a:rPr lang="en-US" dirty="0"/>
              <a:t> The kernel function in SVM transforms the data into a higher-dimensional space to make it easier to separate classes.</a:t>
            </a:r>
            <a:br>
              <a:rPr lang="en-US" dirty="0"/>
            </a:br>
            <a:r>
              <a:rPr lang="en-US" dirty="0"/>
              <a:t>The radial basis function (RBF) kernel allows the model to capture non-linear relationships between predictors and the target variable.</a:t>
            </a:r>
          </a:p>
          <a:p>
            <a:r>
              <a:rPr lang="en-US" dirty="0"/>
              <a:t>Report : The SVM model was trained using a radial basis function (RBF) kernel, with hyperparameters tuned over a grid of C and sigma values. The optimal parameters selected were </a:t>
            </a:r>
            <a:r>
              <a:rPr lang="en-US" b="1" dirty="0"/>
              <a:t>C = 1</a:t>
            </a:r>
            <a:r>
              <a:rPr lang="en-US" dirty="0"/>
              <a:t> and </a:t>
            </a:r>
            <a:r>
              <a:rPr lang="en-US" b="1" dirty="0"/>
              <a:t>sigma = 0.01</a:t>
            </a:r>
            <a:r>
              <a:rPr lang="en-US" dirty="0"/>
              <a:t>, which achieved the highest ROC value of approximately </a:t>
            </a:r>
            <a:r>
              <a:rPr lang="en-US" b="1" dirty="0"/>
              <a:t>0.87</a:t>
            </a:r>
            <a:r>
              <a:rPr lang="en-US" dirty="0"/>
              <a:t>.</a:t>
            </a:r>
            <a:br>
              <a:rPr lang="en-US" dirty="0"/>
            </a:br>
            <a:r>
              <a:rPr lang="en-US" dirty="0"/>
              <a:t>The results indicate that smaller sigma values produced better performance, suggesting that a smoother decision boundary improves generalization. The effect of C on performance was minimal, indicating stability of the model across different regularization strengths.</a:t>
            </a:r>
          </a:p>
          <a:p>
            <a:endParaRPr lang="en-US" dirty="0"/>
          </a:p>
        </p:txBody>
      </p:sp>
    </p:spTree>
    <p:extLst>
      <p:ext uri="{BB962C8B-B14F-4D97-AF65-F5344CB8AC3E}">
        <p14:creationId xmlns:p14="http://schemas.microsoft.com/office/powerpoint/2010/main" val="3521049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3ED40-1887-386B-01FF-83E2F4D24665}"/>
              </a:ext>
            </a:extLst>
          </p:cNvPr>
          <p:cNvSpPr>
            <a:spLocks noGrp="1"/>
          </p:cNvSpPr>
          <p:nvPr>
            <p:ph type="title"/>
          </p:nvPr>
        </p:nvSpPr>
        <p:spPr/>
        <p:txBody>
          <a:bodyPr/>
          <a:lstStyle/>
          <a:p>
            <a:r>
              <a:rPr lang="en-US" dirty="0"/>
              <a:t>Task 8 : Model Training – Random Forest</a:t>
            </a:r>
          </a:p>
        </p:txBody>
      </p:sp>
      <p:sp>
        <p:nvSpPr>
          <p:cNvPr id="3" name="Content Placeholder 2">
            <a:extLst>
              <a:ext uri="{FF2B5EF4-FFF2-40B4-BE49-F238E27FC236}">
                <a16:creationId xmlns:a16="http://schemas.microsoft.com/office/drawing/2014/main" id="{7F5505B6-A9C2-0FFE-8389-3298F74A6687}"/>
              </a:ext>
            </a:extLst>
          </p:cNvPr>
          <p:cNvSpPr>
            <a:spLocks noGrp="1"/>
          </p:cNvSpPr>
          <p:nvPr>
            <p:ph idx="1"/>
          </p:nvPr>
        </p:nvSpPr>
        <p:spPr/>
        <p:txBody>
          <a:bodyPr/>
          <a:lstStyle/>
          <a:p>
            <a:r>
              <a:rPr lang="en-US" dirty="0"/>
              <a:t>A Random forest model was trained using method ”rf”.</a:t>
            </a:r>
          </a:p>
          <a:p>
            <a:r>
              <a:rPr lang="en-US" dirty="0"/>
              <a:t>The Random Forest model was trained with 500 trees and tuned using different values of </a:t>
            </a:r>
            <a:r>
              <a:rPr lang="en-US" dirty="0" err="1"/>
              <a:t>mtry</a:t>
            </a:r>
            <a:r>
              <a:rPr lang="en-US" dirty="0"/>
              <a:t>. The optimal value selected was </a:t>
            </a:r>
            <a:r>
              <a:rPr lang="en-US" b="1" dirty="0" err="1"/>
              <a:t>mtry</a:t>
            </a:r>
            <a:r>
              <a:rPr lang="en-US" b="1" dirty="0"/>
              <a:t> = 2</a:t>
            </a:r>
            <a:r>
              <a:rPr lang="en-US" dirty="0"/>
              <a:t>, indicating that using a smaller subset of predictors at each split improves model performance by increasing diversity among trees.</a:t>
            </a:r>
          </a:p>
          <a:p>
            <a:r>
              <a:rPr lang="en-US" dirty="0"/>
              <a:t>A plot of variable importance was also done and the top 5 most important  predictors for CVD were : physical activity, sleep hours, glucose levels, age, and stress level.</a:t>
            </a:r>
          </a:p>
          <a:p>
            <a:endParaRPr lang="en-US" dirty="0"/>
          </a:p>
        </p:txBody>
      </p:sp>
    </p:spTree>
    <p:extLst>
      <p:ext uri="{BB962C8B-B14F-4D97-AF65-F5344CB8AC3E}">
        <p14:creationId xmlns:p14="http://schemas.microsoft.com/office/powerpoint/2010/main" val="2513578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C891D-D56E-E662-BEEF-75E161230824}"/>
              </a:ext>
            </a:extLst>
          </p:cNvPr>
          <p:cNvSpPr>
            <a:spLocks noGrp="1"/>
          </p:cNvSpPr>
          <p:nvPr>
            <p:ph type="title"/>
          </p:nvPr>
        </p:nvSpPr>
        <p:spPr/>
        <p:txBody>
          <a:bodyPr/>
          <a:lstStyle/>
          <a:p>
            <a:r>
              <a:rPr lang="en-US" dirty="0"/>
              <a:t>Task 9 : Model Evaluation And Comparison</a:t>
            </a:r>
          </a:p>
        </p:txBody>
      </p:sp>
      <p:sp>
        <p:nvSpPr>
          <p:cNvPr id="3" name="Content Placeholder 2">
            <a:extLst>
              <a:ext uri="{FF2B5EF4-FFF2-40B4-BE49-F238E27FC236}">
                <a16:creationId xmlns:a16="http://schemas.microsoft.com/office/drawing/2014/main" id="{8D48742F-098B-8FE8-356C-0E8320F4F260}"/>
              </a:ext>
            </a:extLst>
          </p:cNvPr>
          <p:cNvSpPr>
            <a:spLocks noGrp="1"/>
          </p:cNvSpPr>
          <p:nvPr>
            <p:ph idx="1"/>
          </p:nvPr>
        </p:nvSpPr>
        <p:spPr/>
        <p:txBody>
          <a:bodyPr/>
          <a:lstStyle/>
          <a:p>
            <a:r>
              <a:rPr lang="en-US" dirty="0" err="1"/>
              <a:t>Predicitions</a:t>
            </a:r>
            <a:r>
              <a:rPr lang="en-US" dirty="0"/>
              <a:t> of class and probabilities on the test </a:t>
            </a:r>
            <a:r>
              <a:rPr lang="en-US" dirty="0" err="1"/>
              <a:t>test</a:t>
            </a:r>
            <a:r>
              <a:rPr lang="en-US" dirty="0"/>
              <a:t> were done for all the 4 models and then confusion matrices were generated for each plot.</a:t>
            </a:r>
          </a:p>
        </p:txBody>
      </p:sp>
    </p:spTree>
    <p:extLst>
      <p:ext uri="{BB962C8B-B14F-4D97-AF65-F5344CB8AC3E}">
        <p14:creationId xmlns:p14="http://schemas.microsoft.com/office/powerpoint/2010/main" val="696294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33B6E-4039-B4FB-C3D3-5C46F9BCC69C}"/>
              </a:ext>
            </a:extLst>
          </p:cNvPr>
          <p:cNvSpPr>
            <a:spLocks noGrp="1"/>
          </p:cNvSpPr>
          <p:nvPr>
            <p:ph type="title"/>
          </p:nvPr>
        </p:nvSpPr>
        <p:spPr/>
        <p:txBody>
          <a:bodyPr/>
          <a:lstStyle/>
          <a:p>
            <a:r>
              <a:rPr lang="en-US" dirty="0"/>
              <a:t>Logistic Regression Model –Confusion Matrix</a:t>
            </a:r>
          </a:p>
        </p:txBody>
      </p:sp>
      <p:sp>
        <p:nvSpPr>
          <p:cNvPr id="8" name="Content Placeholder 7">
            <a:extLst>
              <a:ext uri="{FF2B5EF4-FFF2-40B4-BE49-F238E27FC236}">
                <a16:creationId xmlns:a16="http://schemas.microsoft.com/office/drawing/2014/main" id="{4D045E5E-85C2-D1D8-8FF4-5D5C0D3BCF9F}"/>
              </a:ext>
            </a:extLst>
          </p:cNvPr>
          <p:cNvSpPr>
            <a:spLocks noGrp="1"/>
          </p:cNvSpPr>
          <p:nvPr>
            <p:ph idx="1"/>
          </p:nvPr>
        </p:nvSpPr>
        <p:spPr/>
        <p:txBody>
          <a:bodyPr>
            <a:normAutofit fontScale="92500" lnSpcReduction="20000"/>
          </a:bodyPr>
          <a:lstStyle/>
          <a:p>
            <a:r>
              <a:rPr lang="en-US" dirty="0"/>
              <a:t>The Logistic Regression model achieved a </a:t>
            </a:r>
            <a:r>
              <a:rPr lang="en-US" b="1" dirty="0"/>
              <a:t>high overall accuracy of 90.25%</a:t>
            </a:r>
            <a:r>
              <a:rPr lang="en-US" dirty="0"/>
              <a:t>, indicating that it correctly classified most observations. However, accuracy alone is misleading in this case due to class imbalance. </a:t>
            </a:r>
          </a:p>
          <a:p>
            <a:r>
              <a:rPr lang="en-US" dirty="0"/>
              <a:t>The model has </a:t>
            </a:r>
            <a:r>
              <a:rPr lang="en-US" b="1" dirty="0"/>
              <a:t>very high specificity (98.07%)</a:t>
            </a:r>
            <a:r>
              <a:rPr lang="en-US" dirty="0"/>
              <a:t>, meaning it is excellent at correctly identifying patients </a:t>
            </a:r>
            <a:r>
              <a:rPr lang="en-US" b="1" dirty="0"/>
              <a:t>without CVD</a:t>
            </a:r>
            <a:r>
              <a:rPr lang="en-US" dirty="0"/>
              <a:t>. </a:t>
            </a:r>
          </a:p>
          <a:p>
            <a:r>
              <a:rPr lang="en-US" dirty="0"/>
              <a:t>It also has a </a:t>
            </a:r>
            <a:r>
              <a:rPr lang="en-US" b="1" dirty="0"/>
              <a:t>high negative predictive value (91.68%)</a:t>
            </a:r>
            <a:r>
              <a:rPr lang="en-US" dirty="0"/>
              <a:t>, indicating reliable predictions for non-CVD cases. </a:t>
            </a:r>
          </a:p>
          <a:p>
            <a:r>
              <a:rPr lang="en-US" dirty="0"/>
              <a:t>The </a:t>
            </a:r>
            <a:r>
              <a:rPr lang="en-US" b="1" dirty="0"/>
              <a:t>sensitivity is very low (20%)</a:t>
            </a:r>
            <a:r>
              <a:rPr lang="en-US" dirty="0"/>
              <a:t>, meaning the model fails to correctly identify most patients </a:t>
            </a:r>
            <a:r>
              <a:rPr lang="en-US" b="1" dirty="0"/>
              <a:t>with CVD</a:t>
            </a:r>
            <a:r>
              <a:rPr lang="en-US" dirty="0"/>
              <a:t>. </a:t>
            </a:r>
          </a:p>
          <a:p>
            <a:r>
              <a:rPr lang="en-US" dirty="0"/>
              <a:t>Out of all actual CVD cases, only </a:t>
            </a:r>
            <a:r>
              <a:rPr lang="en-US" b="1" dirty="0"/>
              <a:t>15 were correctly identified</a:t>
            </a:r>
            <a:r>
              <a:rPr lang="en-US" dirty="0"/>
              <a:t>, while </a:t>
            </a:r>
            <a:r>
              <a:rPr lang="en-US" b="1" dirty="0"/>
              <a:t>60 were missed</a:t>
            </a:r>
            <a:r>
              <a:rPr lang="en-US" dirty="0"/>
              <a:t>. </a:t>
            </a:r>
          </a:p>
          <a:p>
            <a:r>
              <a:rPr lang="en-US" dirty="0"/>
              <a:t>The </a:t>
            </a:r>
            <a:r>
              <a:rPr lang="en-US" b="1" dirty="0"/>
              <a:t>F1-score (0.29)</a:t>
            </a:r>
            <a:r>
              <a:rPr lang="en-US" dirty="0"/>
              <a:t> is low, indicating poor balance between precision and recall. </a:t>
            </a:r>
          </a:p>
          <a:p>
            <a:r>
              <a:rPr lang="en-US" dirty="0"/>
              <a:t>The </a:t>
            </a:r>
            <a:r>
              <a:rPr lang="en-US" b="1" dirty="0"/>
              <a:t>Kappa value (0.25)</a:t>
            </a:r>
            <a:r>
              <a:rPr lang="en-US" dirty="0"/>
              <a:t> suggests only </a:t>
            </a:r>
            <a:r>
              <a:rPr lang="en-US" b="1" dirty="0"/>
              <a:t>fair agreement</a:t>
            </a:r>
            <a:r>
              <a:rPr lang="en-US" dirty="0"/>
              <a:t>, meaning the model is not very strong beyond chance. </a:t>
            </a:r>
          </a:p>
          <a:p>
            <a:endParaRPr lang="en-US" dirty="0"/>
          </a:p>
          <a:p>
            <a:endParaRPr lang="en-US" dirty="0"/>
          </a:p>
        </p:txBody>
      </p:sp>
    </p:spTree>
    <p:extLst>
      <p:ext uri="{BB962C8B-B14F-4D97-AF65-F5344CB8AC3E}">
        <p14:creationId xmlns:p14="http://schemas.microsoft.com/office/powerpoint/2010/main" val="3598897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969D1-98E4-6EEF-97F2-470F68625ED2}"/>
              </a:ext>
            </a:extLst>
          </p:cNvPr>
          <p:cNvSpPr>
            <a:spLocks noGrp="1"/>
          </p:cNvSpPr>
          <p:nvPr>
            <p:ph type="title"/>
          </p:nvPr>
        </p:nvSpPr>
        <p:spPr/>
        <p:txBody>
          <a:bodyPr/>
          <a:lstStyle/>
          <a:p>
            <a:r>
              <a:rPr lang="en-US" dirty="0"/>
              <a:t>KNN Model  Confusion Matrix</a:t>
            </a:r>
          </a:p>
        </p:txBody>
      </p:sp>
      <p:sp>
        <p:nvSpPr>
          <p:cNvPr id="3" name="Content Placeholder 2">
            <a:extLst>
              <a:ext uri="{FF2B5EF4-FFF2-40B4-BE49-F238E27FC236}">
                <a16:creationId xmlns:a16="http://schemas.microsoft.com/office/drawing/2014/main" id="{9900114F-CEAA-60ED-6C82-83ADC068D9DB}"/>
              </a:ext>
            </a:extLst>
          </p:cNvPr>
          <p:cNvSpPr>
            <a:spLocks noGrp="1"/>
          </p:cNvSpPr>
          <p:nvPr>
            <p:ph idx="1"/>
          </p:nvPr>
        </p:nvSpPr>
        <p:spPr/>
        <p:txBody>
          <a:bodyPr>
            <a:normAutofit fontScale="85000" lnSpcReduction="10000"/>
          </a:bodyPr>
          <a:lstStyle/>
          <a:p>
            <a:r>
              <a:rPr lang="en-US" dirty="0"/>
              <a:t>The KNN model achieved a </a:t>
            </a:r>
            <a:r>
              <a:rPr lang="en-US" b="1" dirty="0"/>
              <a:t>high overall accuracy of 90.12%</a:t>
            </a:r>
            <a:r>
              <a:rPr lang="en-US" dirty="0"/>
              <a:t>, similar to Logistic Regression. However, this performance is </a:t>
            </a:r>
            <a:r>
              <a:rPr lang="en-US" b="1" dirty="0"/>
              <a:t>misleading due to severe class imbalance</a:t>
            </a:r>
            <a:r>
              <a:rPr lang="en-US" dirty="0"/>
              <a:t>.</a:t>
            </a:r>
          </a:p>
          <a:p>
            <a:r>
              <a:rPr lang="en-US" dirty="0"/>
              <a:t>The model achieved </a:t>
            </a:r>
            <a:r>
              <a:rPr lang="en-US" b="1" dirty="0"/>
              <a:t>perfect specificity (100%)</a:t>
            </a:r>
            <a:r>
              <a:rPr lang="en-US" dirty="0"/>
              <a:t>, meaning it correctly identified all non-CVD cases. </a:t>
            </a:r>
          </a:p>
          <a:p>
            <a:r>
              <a:rPr lang="en-US" dirty="0"/>
              <a:t>Precision is also </a:t>
            </a:r>
            <a:r>
              <a:rPr lang="en-US" b="1" dirty="0"/>
              <a:t>100%</a:t>
            </a:r>
            <a:r>
              <a:rPr lang="en-US" dirty="0"/>
              <a:t>, indicating that when the model predicts CVD, it is correct. </a:t>
            </a:r>
          </a:p>
          <a:p>
            <a:r>
              <a:rPr lang="en-US" dirty="0"/>
              <a:t>The </a:t>
            </a:r>
            <a:r>
              <a:rPr lang="en-US" b="1" dirty="0"/>
              <a:t>sensitivity is extremely low (1.33%)</a:t>
            </a:r>
            <a:r>
              <a:rPr lang="en-US" dirty="0"/>
              <a:t>, meaning the model almost completely fails to detect CVD cases. </a:t>
            </a:r>
          </a:p>
          <a:p>
            <a:r>
              <a:rPr lang="en-US" dirty="0"/>
              <a:t>Out of all actual CVD cases: </a:t>
            </a:r>
          </a:p>
          <a:p>
            <a:pPr lvl="1"/>
            <a:r>
              <a:rPr lang="en-US" dirty="0"/>
              <a:t>Only </a:t>
            </a:r>
            <a:r>
              <a:rPr lang="en-US" b="1" dirty="0"/>
              <a:t>1 case was correctly identified</a:t>
            </a:r>
            <a:r>
              <a:rPr lang="en-US" dirty="0"/>
              <a:t> </a:t>
            </a:r>
          </a:p>
          <a:p>
            <a:pPr lvl="1"/>
            <a:r>
              <a:rPr lang="en-US" b="1" dirty="0"/>
              <a:t>74 cases were missed</a:t>
            </a:r>
            <a:r>
              <a:rPr lang="en-US" dirty="0"/>
              <a:t>  </a:t>
            </a:r>
          </a:p>
          <a:p>
            <a:r>
              <a:rPr lang="en-US" dirty="0"/>
              <a:t>The </a:t>
            </a:r>
            <a:r>
              <a:rPr lang="en-US" b="1" dirty="0"/>
              <a:t>F1-score (0.026)</a:t>
            </a:r>
            <a:r>
              <a:rPr lang="en-US" dirty="0"/>
              <a:t> is extremely low, showing very poor balance between precision and recall. </a:t>
            </a:r>
          </a:p>
          <a:p>
            <a:r>
              <a:rPr lang="en-US" dirty="0"/>
              <a:t>The </a:t>
            </a:r>
            <a:r>
              <a:rPr lang="en-US" b="1" dirty="0"/>
              <a:t>Kappa value (0.0237)</a:t>
            </a:r>
            <a:r>
              <a:rPr lang="en-US" dirty="0"/>
              <a:t> indicates </a:t>
            </a:r>
            <a:r>
              <a:rPr lang="en-US" b="1" dirty="0"/>
              <a:t>almost no agreement beyond chance</a:t>
            </a:r>
            <a:r>
              <a:rPr lang="en-US" dirty="0"/>
              <a:t>.</a:t>
            </a:r>
          </a:p>
          <a:p>
            <a:endParaRPr lang="en-US" dirty="0"/>
          </a:p>
        </p:txBody>
      </p:sp>
    </p:spTree>
    <p:extLst>
      <p:ext uri="{BB962C8B-B14F-4D97-AF65-F5344CB8AC3E}">
        <p14:creationId xmlns:p14="http://schemas.microsoft.com/office/powerpoint/2010/main" val="2034390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4441C-9460-6177-1EDE-45BFD89D3465}"/>
              </a:ext>
            </a:extLst>
          </p:cNvPr>
          <p:cNvSpPr>
            <a:spLocks noGrp="1"/>
          </p:cNvSpPr>
          <p:nvPr>
            <p:ph type="title"/>
          </p:nvPr>
        </p:nvSpPr>
        <p:spPr/>
        <p:txBody>
          <a:bodyPr/>
          <a:lstStyle/>
          <a:p>
            <a:r>
              <a:rPr lang="en-US" dirty="0"/>
              <a:t>SVM Model – Confusion Matrix</a:t>
            </a:r>
          </a:p>
        </p:txBody>
      </p:sp>
      <p:sp>
        <p:nvSpPr>
          <p:cNvPr id="3" name="Content Placeholder 2">
            <a:extLst>
              <a:ext uri="{FF2B5EF4-FFF2-40B4-BE49-F238E27FC236}">
                <a16:creationId xmlns:a16="http://schemas.microsoft.com/office/drawing/2014/main" id="{640A5707-F75D-98EF-1B3F-A7C430D90DF6}"/>
              </a:ext>
            </a:extLst>
          </p:cNvPr>
          <p:cNvSpPr>
            <a:spLocks noGrp="1"/>
          </p:cNvSpPr>
          <p:nvPr>
            <p:ph idx="1"/>
          </p:nvPr>
        </p:nvSpPr>
        <p:spPr/>
        <p:txBody>
          <a:bodyPr>
            <a:normAutofit fontScale="85000" lnSpcReduction="20000"/>
          </a:bodyPr>
          <a:lstStyle/>
          <a:p>
            <a:r>
              <a:rPr lang="en-US" dirty="0"/>
              <a:t>The SVM model achieved an overall </a:t>
            </a:r>
            <a:r>
              <a:rPr lang="en-US" b="1" dirty="0"/>
              <a:t>accuracy of 89.99%</a:t>
            </a:r>
            <a:r>
              <a:rPr lang="en-US" dirty="0"/>
              <a:t>, which is comparable to both Logistic Regression and KNN. However, a deeper analysis of the metrics reveals important insights.</a:t>
            </a:r>
            <a:endParaRPr lang="en-US" b="1" dirty="0"/>
          </a:p>
          <a:p>
            <a:r>
              <a:rPr lang="en-US" dirty="0"/>
              <a:t>The model has </a:t>
            </a:r>
            <a:r>
              <a:rPr lang="en-US" b="1" dirty="0"/>
              <a:t>high specificity (98.37%)</a:t>
            </a:r>
            <a:r>
              <a:rPr lang="en-US" dirty="0"/>
              <a:t>, indicating strong performance in correctly identifying non-CVD cases. </a:t>
            </a:r>
          </a:p>
          <a:p>
            <a:r>
              <a:rPr lang="en-US" dirty="0"/>
              <a:t>The </a:t>
            </a:r>
            <a:r>
              <a:rPr lang="en-US" b="1" dirty="0"/>
              <a:t>precision (50%)</a:t>
            </a:r>
            <a:r>
              <a:rPr lang="en-US" dirty="0"/>
              <a:t> is moderate, meaning half of the predicted CVD cases are correct. </a:t>
            </a:r>
          </a:p>
          <a:p>
            <a:r>
              <a:rPr lang="en-US" dirty="0"/>
              <a:t>Compared to KNN, SVM shows </a:t>
            </a:r>
            <a:r>
              <a:rPr lang="en-US" b="1" dirty="0"/>
              <a:t>improved ability to detect positive cases</a:t>
            </a:r>
            <a:r>
              <a:rPr lang="en-US" dirty="0"/>
              <a:t>. </a:t>
            </a:r>
          </a:p>
          <a:p>
            <a:r>
              <a:rPr lang="en-US" dirty="0"/>
              <a:t>The </a:t>
            </a:r>
            <a:r>
              <a:rPr lang="en-US" b="1" dirty="0"/>
              <a:t>sensitivity is still low (14.67%)</a:t>
            </a:r>
            <a:r>
              <a:rPr lang="en-US" dirty="0"/>
              <a:t>, meaning the model fails to identify a large proportion of actual CVD cases. </a:t>
            </a:r>
          </a:p>
          <a:p>
            <a:r>
              <a:rPr lang="en-US" dirty="0"/>
              <a:t>Out of all true CVD cases: </a:t>
            </a:r>
          </a:p>
          <a:p>
            <a:pPr lvl="1"/>
            <a:r>
              <a:rPr lang="en-US" dirty="0"/>
              <a:t>Only </a:t>
            </a:r>
            <a:r>
              <a:rPr lang="en-US" b="1" dirty="0"/>
              <a:t>11 were correctly detected</a:t>
            </a:r>
            <a:r>
              <a:rPr lang="en-US" dirty="0"/>
              <a:t> </a:t>
            </a:r>
          </a:p>
          <a:p>
            <a:pPr lvl="1"/>
            <a:r>
              <a:rPr lang="en-US" b="1" dirty="0"/>
              <a:t>64 cases were missed</a:t>
            </a:r>
            <a:r>
              <a:rPr lang="en-US" dirty="0"/>
              <a:t>  </a:t>
            </a:r>
          </a:p>
          <a:p>
            <a:r>
              <a:rPr lang="en-US" dirty="0"/>
              <a:t>The </a:t>
            </a:r>
            <a:r>
              <a:rPr lang="en-US" b="1" dirty="0"/>
              <a:t>F1-score (0.23)</a:t>
            </a:r>
            <a:r>
              <a:rPr lang="en-US" dirty="0"/>
              <a:t> indicates weak balance between precision and recall. </a:t>
            </a:r>
          </a:p>
          <a:p>
            <a:r>
              <a:rPr lang="en-US" dirty="0"/>
              <a:t>The </a:t>
            </a:r>
            <a:r>
              <a:rPr lang="en-US" b="1" dirty="0"/>
              <a:t>Kappa value (0.19)</a:t>
            </a:r>
            <a:r>
              <a:rPr lang="en-US" dirty="0"/>
              <a:t> suggests only slight agreement beyond chance. </a:t>
            </a:r>
          </a:p>
          <a:p>
            <a:endParaRPr lang="en-US" dirty="0"/>
          </a:p>
        </p:txBody>
      </p:sp>
    </p:spTree>
    <p:extLst>
      <p:ext uri="{BB962C8B-B14F-4D97-AF65-F5344CB8AC3E}">
        <p14:creationId xmlns:p14="http://schemas.microsoft.com/office/powerpoint/2010/main" val="2520093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0EE72-0069-1593-D1B6-8D8D3AFA4BCA}"/>
              </a:ext>
            </a:extLst>
          </p:cNvPr>
          <p:cNvSpPr>
            <a:spLocks noGrp="1"/>
          </p:cNvSpPr>
          <p:nvPr>
            <p:ph type="title"/>
          </p:nvPr>
        </p:nvSpPr>
        <p:spPr/>
        <p:txBody>
          <a:bodyPr/>
          <a:lstStyle/>
          <a:p>
            <a:r>
              <a:rPr lang="en-US" dirty="0"/>
              <a:t>Random Forest – Confusion Matrix</a:t>
            </a:r>
          </a:p>
        </p:txBody>
      </p:sp>
      <p:sp>
        <p:nvSpPr>
          <p:cNvPr id="3" name="Content Placeholder 2">
            <a:extLst>
              <a:ext uri="{FF2B5EF4-FFF2-40B4-BE49-F238E27FC236}">
                <a16:creationId xmlns:a16="http://schemas.microsoft.com/office/drawing/2014/main" id="{0454D53C-7E23-3D88-63F7-EE024ADB3A3D}"/>
              </a:ext>
            </a:extLst>
          </p:cNvPr>
          <p:cNvSpPr>
            <a:spLocks noGrp="1"/>
          </p:cNvSpPr>
          <p:nvPr>
            <p:ph idx="1"/>
          </p:nvPr>
        </p:nvSpPr>
        <p:spPr/>
        <p:txBody>
          <a:bodyPr>
            <a:normAutofit fontScale="77500" lnSpcReduction="20000"/>
          </a:bodyPr>
          <a:lstStyle/>
          <a:p>
            <a:r>
              <a:rPr lang="en-US" dirty="0"/>
              <a:t>The Random Forest model achieved an overall </a:t>
            </a:r>
            <a:r>
              <a:rPr lang="en-US" b="1" dirty="0"/>
              <a:t>accuracy of 89.99%</a:t>
            </a:r>
            <a:r>
              <a:rPr lang="en-US" dirty="0"/>
              <a:t>, which appears high at first glance. However, this result is </a:t>
            </a:r>
            <a:r>
              <a:rPr lang="en-US" b="1" dirty="0"/>
              <a:t>misleading due to severe class imbalance</a:t>
            </a:r>
            <a:r>
              <a:rPr lang="en-US" dirty="0"/>
              <a:t>.</a:t>
            </a:r>
          </a:p>
          <a:p>
            <a:r>
              <a:rPr lang="en-US" dirty="0"/>
              <a:t>The model predicted </a:t>
            </a:r>
            <a:r>
              <a:rPr lang="en-US" b="1" dirty="0"/>
              <a:t>only one class ("No") for all observations</a:t>
            </a:r>
            <a:r>
              <a:rPr lang="en-US" dirty="0"/>
              <a:t>.</a:t>
            </a:r>
          </a:p>
          <a:p>
            <a:r>
              <a:rPr lang="en-US" dirty="0"/>
              <a:t>It </a:t>
            </a:r>
            <a:r>
              <a:rPr lang="en-US" b="1" dirty="0"/>
              <a:t>never predicted any CVD cases (Yes)</a:t>
            </a:r>
            <a:r>
              <a:rPr lang="en-US" dirty="0"/>
              <a:t>  </a:t>
            </a:r>
          </a:p>
          <a:p>
            <a:r>
              <a:rPr lang="en-US" dirty="0"/>
              <a:t>As a result: </a:t>
            </a:r>
          </a:p>
          <a:p>
            <a:pPr lvl="1"/>
            <a:r>
              <a:rPr lang="en-US" b="1" dirty="0"/>
              <a:t>True Positives = 0</a:t>
            </a:r>
            <a:r>
              <a:rPr lang="en-US" dirty="0"/>
              <a:t> </a:t>
            </a:r>
          </a:p>
          <a:p>
            <a:pPr lvl="1"/>
            <a:r>
              <a:rPr lang="en-US" b="1" dirty="0"/>
              <a:t>Sensitivity = 0%</a:t>
            </a:r>
            <a:r>
              <a:rPr lang="en-US" dirty="0"/>
              <a:t> </a:t>
            </a:r>
          </a:p>
          <a:p>
            <a:r>
              <a:rPr lang="en-US" dirty="0"/>
              <a:t>The model achieved </a:t>
            </a:r>
            <a:r>
              <a:rPr lang="en-US" b="1" dirty="0"/>
              <a:t>perfect specificity (100%)</a:t>
            </a:r>
            <a:r>
              <a:rPr lang="en-US" dirty="0"/>
              <a:t>, meaning it correctly identified all non-CVD cases. </a:t>
            </a:r>
          </a:p>
          <a:p>
            <a:r>
              <a:rPr lang="en-US" dirty="0"/>
              <a:t>High accuracy is driven entirely by correct classification of the majority class. </a:t>
            </a:r>
            <a:endParaRPr lang="en-US" b="1" dirty="0"/>
          </a:p>
          <a:p>
            <a:r>
              <a:rPr lang="en-US" b="1" dirty="0"/>
              <a:t>Sensitivity is 0%</a:t>
            </a:r>
            <a:r>
              <a:rPr lang="en-US" dirty="0"/>
              <a:t>, meaning the model failed to detect </a:t>
            </a:r>
            <a:r>
              <a:rPr lang="en-US" b="1" dirty="0"/>
              <a:t>any CVD cases</a:t>
            </a:r>
            <a:r>
              <a:rPr lang="en-US" dirty="0"/>
              <a:t>. </a:t>
            </a:r>
          </a:p>
          <a:p>
            <a:r>
              <a:rPr lang="en-US" dirty="0"/>
              <a:t>Precision is </a:t>
            </a:r>
            <a:r>
              <a:rPr lang="en-US" b="1" dirty="0"/>
              <a:t>undefined (</a:t>
            </a:r>
            <a:r>
              <a:rPr lang="en-US" b="1" dirty="0" err="1"/>
              <a:t>NaN</a:t>
            </a:r>
            <a:r>
              <a:rPr lang="en-US" b="1" dirty="0"/>
              <a:t>)</a:t>
            </a:r>
            <a:r>
              <a:rPr lang="en-US" dirty="0"/>
              <a:t> because no positive predictions were made. </a:t>
            </a:r>
          </a:p>
          <a:p>
            <a:r>
              <a:rPr lang="en-US" b="1" dirty="0"/>
              <a:t>F1-score = 0</a:t>
            </a:r>
            <a:r>
              <a:rPr lang="en-US" dirty="0"/>
              <a:t>, indicating complete failure in identifying the positive class. </a:t>
            </a:r>
          </a:p>
          <a:p>
            <a:r>
              <a:rPr lang="en-US" b="1" dirty="0"/>
              <a:t>Kappa = 0</a:t>
            </a:r>
            <a:r>
              <a:rPr lang="en-US" dirty="0"/>
              <a:t>, meaning the model performs no better than random chance. </a:t>
            </a:r>
          </a:p>
          <a:p>
            <a:endParaRPr lang="en-US" dirty="0"/>
          </a:p>
        </p:txBody>
      </p:sp>
    </p:spTree>
    <p:extLst>
      <p:ext uri="{BB962C8B-B14F-4D97-AF65-F5344CB8AC3E}">
        <p14:creationId xmlns:p14="http://schemas.microsoft.com/office/powerpoint/2010/main" val="1092170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0647C-C773-8F39-451F-41D20CC5D1CB}"/>
              </a:ext>
            </a:extLst>
          </p:cNvPr>
          <p:cNvSpPr>
            <a:spLocks noGrp="1"/>
          </p:cNvSpPr>
          <p:nvPr>
            <p:ph type="title"/>
          </p:nvPr>
        </p:nvSpPr>
        <p:spPr/>
        <p:txBody>
          <a:bodyPr/>
          <a:lstStyle/>
          <a:p>
            <a:r>
              <a:rPr lang="en-US" dirty="0"/>
              <a:t>ROC Curves and AUC Values</a:t>
            </a:r>
          </a:p>
        </p:txBody>
      </p:sp>
      <p:sp>
        <p:nvSpPr>
          <p:cNvPr id="3" name="Content Placeholder 2">
            <a:extLst>
              <a:ext uri="{FF2B5EF4-FFF2-40B4-BE49-F238E27FC236}">
                <a16:creationId xmlns:a16="http://schemas.microsoft.com/office/drawing/2014/main" id="{99C31D89-0D18-93CB-2327-C90A882DC970}"/>
              </a:ext>
            </a:extLst>
          </p:cNvPr>
          <p:cNvSpPr>
            <a:spLocks noGrp="1"/>
          </p:cNvSpPr>
          <p:nvPr>
            <p:ph idx="1"/>
          </p:nvPr>
        </p:nvSpPr>
        <p:spPr>
          <a:xfrm>
            <a:off x="838200" y="1825625"/>
            <a:ext cx="10515600" cy="5165110"/>
          </a:xfrm>
        </p:spPr>
        <p:txBody>
          <a:bodyPr>
            <a:normAutofit/>
          </a:bodyPr>
          <a:lstStyle/>
          <a:p>
            <a:r>
              <a:rPr lang="en-US" dirty="0"/>
              <a:t>Roc curves for the four models were plotted on the same graph and </a:t>
            </a:r>
            <a:r>
              <a:rPr lang="en-US" dirty="0" err="1"/>
              <a:t>Auc</a:t>
            </a:r>
            <a:r>
              <a:rPr lang="en-US" dirty="0"/>
              <a:t> values for each model was calculated.</a:t>
            </a:r>
          </a:p>
          <a:p>
            <a:r>
              <a:rPr lang="en-US" dirty="0"/>
              <a:t>The Area Under the Curve (AUC) values for the four models are summarized below:</a:t>
            </a:r>
          </a:p>
          <a:p>
            <a:r>
              <a:rPr lang="en-US" dirty="0"/>
              <a:t> Model       AUC</a:t>
            </a:r>
          </a:p>
          <a:p>
            <a:r>
              <a:rPr lang="en-US" dirty="0"/>
              <a:t>1      Logistic 0.8395450</a:t>
            </a:r>
          </a:p>
          <a:p>
            <a:r>
              <a:rPr lang="en-US" dirty="0"/>
              <a:t>2           KNN 0.7626805</a:t>
            </a:r>
          </a:p>
          <a:p>
            <a:r>
              <a:rPr lang="en-US" dirty="0"/>
              <a:t>3           SVM 0.8083086</a:t>
            </a:r>
          </a:p>
          <a:p>
            <a:r>
              <a:rPr lang="en-US" dirty="0"/>
              <a:t>4 Random Forest 0.8035213</a:t>
            </a:r>
          </a:p>
          <a:p>
            <a:r>
              <a:rPr lang="en-US" dirty="0"/>
              <a:t> Logistic Regression is the best-performing model, followed by SVM and Random Forest, while KNN performed the worst. Although Logistic Regression shows the strongest ability to distinguish between classes, all models exhibit low sensitivity, indicating difficulty in detecting CVD cases.</a:t>
            </a:r>
          </a:p>
          <a:p>
            <a:endParaRPr lang="en-US" dirty="0"/>
          </a:p>
          <a:p>
            <a:endParaRPr lang="en-US" dirty="0"/>
          </a:p>
        </p:txBody>
      </p:sp>
    </p:spTree>
    <p:extLst>
      <p:ext uri="{BB962C8B-B14F-4D97-AF65-F5344CB8AC3E}">
        <p14:creationId xmlns:p14="http://schemas.microsoft.com/office/powerpoint/2010/main" val="2804620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7595B-D274-02C5-570B-24521072FAAF}"/>
              </a:ext>
            </a:extLst>
          </p:cNvPr>
          <p:cNvSpPr>
            <a:spLocks noGrp="1"/>
          </p:cNvSpPr>
          <p:nvPr>
            <p:ph type="title"/>
          </p:nvPr>
        </p:nvSpPr>
        <p:spPr/>
        <p:txBody>
          <a:bodyPr/>
          <a:lstStyle/>
          <a:p>
            <a:r>
              <a:rPr lang="en-US" dirty="0"/>
              <a:t>Task 10 : Interpretations and Recommendations</a:t>
            </a:r>
          </a:p>
        </p:txBody>
      </p:sp>
      <p:sp>
        <p:nvSpPr>
          <p:cNvPr id="3" name="Content Placeholder 2">
            <a:extLst>
              <a:ext uri="{FF2B5EF4-FFF2-40B4-BE49-F238E27FC236}">
                <a16:creationId xmlns:a16="http://schemas.microsoft.com/office/drawing/2014/main" id="{101592AA-83FE-3966-BFB6-ABA2C8204F56}"/>
              </a:ext>
            </a:extLst>
          </p:cNvPr>
          <p:cNvSpPr>
            <a:spLocks noGrp="1"/>
          </p:cNvSpPr>
          <p:nvPr>
            <p:ph idx="1"/>
          </p:nvPr>
        </p:nvSpPr>
        <p:spPr/>
        <p:txBody>
          <a:bodyPr>
            <a:normAutofit fontScale="70000" lnSpcReduction="20000"/>
          </a:bodyPr>
          <a:lstStyle/>
          <a:p>
            <a:r>
              <a:rPr lang="en-US" dirty="0"/>
              <a:t>The best-performing model was </a:t>
            </a:r>
            <a:r>
              <a:rPr lang="en-US" b="1" dirty="0"/>
              <a:t>Logistic Regression</a:t>
            </a:r>
            <a:r>
              <a:rPr lang="en-US" dirty="0"/>
              <a:t>, with the highest AUC of </a:t>
            </a:r>
            <a:r>
              <a:rPr lang="en-US" b="1" dirty="0"/>
              <a:t>0.8395</a:t>
            </a:r>
            <a:r>
              <a:rPr lang="en-US" dirty="0"/>
              <a:t>.</a:t>
            </a:r>
          </a:p>
          <a:p>
            <a:r>
              <a:rPr lang="en-US" b="1" dirty="0"/>
              <a:t> </a:t>
            </a:r>
            <a:r>
              <a:rPr lang="en-US" b="1" dirty="0" err="1"/>
              <a:t>Justification:</a:t>
            </a:r>
            <a:r>
              <a:rPr lang="en-US" dirty="0" err="1"/>
              <a:t>Highest</a:t>
            </a:r>
            <a:r>
              <a:rPr lang="en-US" dirty="0"/>
              <a:t> </a:t>
            </a:r>
            <a:r>
              <a:rPr lang="en-US" b="1" dirty="0"/>
              <a:t>AUC</a:t>
            </a:r>
            <a:r>
              <a:rPr lang="en-US" dirty="0"/>
              <a:t> - best ability to distinguish between CVD and non-CVD cases </a:t>
            </a:r>
          </a:p>
          <a:p>
            <a:r>
              <a:rPr lang="en-US" dirty="0"/>
              <a:t>Strong </a:t>
            </a:r>
            <a:r>
              <a:rPr lang="en-US" b="1" dirty="0"/>
              <a:t>accuracy (90%)</a:t>
            </a:r>
            <a:r>
              <a:rPr lang="en-US" dirty="0"/>
              <a:t> </a:t>
            </a:r>
          </a:p>
          <a:p>
            <a:r>
              <a:rPr lang="en-US" dirty="0"/>
              <a:t> However, it still showed </a:t>
            </a:r>
            <a:r>
              <a:rPr lang="en-US" b="1" dirty="0"/>
              <a:t>low sensitivity (20%)</a:t>
            </a:r>
            <a:r>
              <a:rPr lang="en-US" dirty="0"/>
              <a:t>, meaning it missed many CVD cases.</a:t>
            </a:r>
          </a:p>
          <a:p>
            <a:r>
              <a:rPr lang="en-US" dirty="0"/>
              <a:t>The worst-performing model was </a:t>
            </a:r>
            <a:r>
              <a:rPr lang="en-US" b="1" dirty="0"/>
              <a:t>K-Nearest Neighbors (KNN)</a:t>
            </a:r>
            <a:r>
              <a:rPr lang="en-US" dirty="0"/>
              <a:t>, with the lowest AUC of </a:t>
            </a:r>
            <a:r>
              <a:rPr lang="en-US" b="1" dirty="0"/>
              <a:t>0.7627</a:t>
            </a:r>
            <a:r>
              <a:rPr lang="en-US" dirty="0"/>
              <a:t>.</a:t>
            </a:r>
          </a:p>
          <a:p>
            <a:r>
              <a:rPr lang="en-US" b="1" dirty="0"/>
              <a:t> </a:t>
            </a:r>
            <a:r>
              <a:rPr lang="en-US" b="1" dirty="0" err="1"/>
              <a:t>Reasons:</a:t>
            </a:r>
            <a:r>
              <a:rPr lang="en-US" dirty="0" err="1"/>
              <a:t>Extremely</a:t>
            </a:r>
            <a:r>
              <a:rPr lang="en-US" dirty="0"/>
              <a:t> low </a:t>
            </a:r>
            <a:r>
              <a:rPr lang="en-US" b="1" dirty="0"/>
              <a:t>sensitivity (1.33%)</a:t>
            </a:r>
            <a:r>
              <a:rPr lang="en-US" dirty="0"/>
              <a:t> - almost no CVD detection </a:t>
            </a:r>
          </a:p>
          <a:p>
            <a:r>
              <a:rPr lang="en-US" dirty="0"/>
              <a:t>Large k value (</a:t>
            </a:r>
            <a:r>
              <a:rPr lang="en-US" b="1" dirty="0"/>
              <a:t>k = 21</a:t>
            </a:r>
            <a:r>
              <a:rPr lang="en-US" dirty="0"/>
              <a:t>) caused over-smoothing </a:t>
            </a:r>
          </a:p>
          <a:p>
            <a:r>
              <a:rPr lang="en-US" dirty="0"/>
              <a:t>Feature scaling was </a:t>
            </a:r>
            <a:r>
              <a:rPr lang="en-US" b="1" dirty="0"/>
              <a:t>not required for all models</a:t>
            </a:r>
            <a:r>
              <a:rPr lang="en-US" dirty="0"/>
              <a:t>.</a:t>
            </a:r>
          </a:p>
          <a:p>
            <a:r>
              <a:rPr lang="en-US" b="1" dirty="0"/>
              <a:t>It was only Required for:</a:t>
            </a:r>
            <a:r>
              <a:rPr lang="en-US" dirty="0"/>
              <a:t> </a:t>
            </a:r>
          </a:p>
          <a:p>
            <a:pPr lvl="1"/>
            <a:r>
              <a:rPr lang="en-US" dirty="0"/>
              <a:t>KNN - relies on distance calculations </a:t>
            </a:r>
          </a:p>
          <a:p>
            <a:pPr lvl="1"/>
            <a:r>
              <a:rPr lang="en-US" dirty="0"/>
              <a:t>SVM - sensitive to feature magnitude </a:t>
            </a:r>
          </a:p>
          <a:p>
            <a:r>
              <a:rPr lang="en-US" b="1" dirty="0"/>
              <a:t>Not required for:</a:t>
            </a:r>
            <a:r>
              <a:rPr lang="en-US" dirty="0"/>
              <a:t> </a:t>
            </a:r>
          </a:p>
          <a:p>
            <a:pPr lvl="1"/>
            <a:r>
              <a:rPr lang="en-US" dirty="0"/>
              <a:t>Logistic Regression - uses coefficients, not distances </a:t>
            </a:r>
          </a:p>
          <a:p>
            <a:pPr lvl="1"/>
            <a:r>
              <a:rPr lang="en-US" dirty="0"/>
              <a:t>Random Forest - tree-based, scale-invariant</a:t>
            </a:r>
          </a:p>
          <a:p>
            <a:endParaRPr lang="en-US" dirty="0"/>
          </a:p>
        </p:txBody>
      </p:sp>
    </p:spTree>
    <p:extLst>
      <p:ext uri="{BB962C8B-B14F-4D97-AF65-F5344CB8AC3E}">
        <p14:creationId xmlns:p14="http://schemas.microsoft.com/office/powerpoint/2010/main" val="1858513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CA2AE-A576-B483-B333-52251CED85AF}"/>
              </a:ext>
            </a:extLst>
          </p:cNvPr>
          <p:cNvSpPr>
            <a:spLocks noGrp="1"/>
          </p:cNvSpPr>
          <p:nvPr>
            <p:ph type="title"/>
          </p:nvPr>
        </p:nvSpPr>
        <p:spPr/>
        <p:txBody>
          <a:bodyPr>
            <a:normAutofit fontScale="90000"/>
          </a:bodyPr>
          <a:lstStyle/>
          <a:p>
            <a:r>
              <a:rPr lang="en-US" b="1" dirty="0"/>
              <a:t>. Top 3 Risk Factors for CVD (Best Model)</a:t>
            </a:r>
            <a:br>
              <a:rPr lang="en-US" b="1" dirty="0"/>
            </a:br>
            <a:endParaRPr lang="en-US" dirty="0"/>
          </a:p>
        </p:txBody>
      </p:sp>
      <p:sp>
        <p:nvSpPr>
          <p:cNvPr id="3" name="Content Placeholder 2">
            <a:extLst>
              <a:ext uri="{FF2B5EF4-FFF2-40B4-BE49-F238E27FC236}">
                <a16:creationId xmlns:a16="http://schemas.microsoft.com/office/drawing/2014/main" id="{5F446112-8315-0F27-43DF-FD535BF3C780}"/>
              </a:ext>
            </a:extLst>
          </p:cNvPr>
          <p:cNvSpPr>
            <a:spLocks noGrp="1"/>
          </p:cNvSpPr>
          <p:nvPr>
            <p:ph idx="1"/>
          </p:nvPr>
        </p:nvSpPr>
        <p:spPr/>
        <p:txBody>
          <a:bodyPr>
            <a:normAutofit/>
          </a:bodyPr>
          <a:lstStyle/>
          <a:p>
            <a:r>
              <a:rPr lang="en-US" dirty="0"/>
              <a:t>The top 3 risk factors for CVD are:</a:t>
            </a:r>
          </a:p>
          <a:p>
            <a:r>
              <a:rPr lang="en-US" b="1" dirty="0"/>
              <a:t>Age</a:t>
            </a:r>
            <a:r>
              <a:rPr lang="en-US" dirty="0"/>
              <a:t> </a:t>
            </a:r>
          </a:p>
          <a:p>
            <a:r>
              <a:rPr lang="en-US" b="1" dirty="0"/>
              <a:t>Glucose levels</a:t>
            </a:r>
            <a:r>
              <a:rPr lang="en-US" dirty="0"/>
              <a:t> </a:t>
            </a:r>
          </a:p>
          <a:p>
            <a:r>
              <a:rPr lang="en-US" b="1" dirty="0"/>
              <a:t>Physical activity</a:t>
            </a:r>
            <a:r>
              <a:rPr lang="en-US" dirty="0"/>
              <a:t> </a:t>
            </a:r>
          </a:p>
          <a:p>
            <a:r>
              <a:rPr lang="en-US" b="1" dirty="0"/>
              <a:t> Interpretation:</a:t>
            </a:r>
          </a:p>
          <a:p>
            <a:r>
              <a:rPr lang="en-US" dirty="0"/>
              <a:t>Increasing </a:t>
            </a:r>
            <a:r>
              <a:rPr lang="en-US" b="1" dirty="0"/>
              <a:t>age</a:t>
            </a:r>
            <a:r>
              <a:rPr lang="en-US" dirty="0"/>
              <a:t> increases CVD risk </a:t>
            </a:r>
          </a:p>
          <a:p>
            <a:r>
              <a:rPr lang="en-US" dirty="0"/>
              <a:t>High </a:t>
            </a:r>
            <a:r>
              <a:rPr lang="en-US" b="1" dirty="0"/>
              <a:t>glucose levels</a:t>
            </a:r>
            <a:r>
              <a:rPr lang="en-US" dirty="0"/>
              <a:t> indicate metabolic risk </a:t>
            </a:r>
          </a:p>
          <a:p>
            <a:r>
              <a:rPr lang="en-US" dirty="0"/>
              <a:t>Low </a:t>
            </a:r>
            <a:r>
              <a:rPr lang="en-US" b="1" dirty="0"/>
              <a:t>physical activity</a:t>
            </a:r>
            <a:r>
              <a:rPr lang="en-US" dirty="0"/>
              <a:t> significantly increases risk </a:t>
            </a:r>
          </a:p>
          <a:p>
            <a:endParaRPr lang="en-US" dirty="0"/>
          </a:p>
        </p:txBody>
      </p:sp>
    </p:spTree>
    <p:extLst>
      <p:ext uri="{BB962C8B-B14F-4D97-AF65-F5344CB8AC3E}">
        <p14:creationId xmlns:p14="http://schemas.microsoft.com/office/powerpoint/2010/main" val="4277294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1BCE-7D4C-D01A-2DFF-986E381F6489}"/>
              </a:ext>
            </a:extLst>
          </p:cNvPr>
          <p:cNvSpPr>
            <a:spLocks noGrp="1"/>
          </p:cNvSpPr>
          <p:nvPr>
            <p:ph type="title"/>
          </p:nvPr>
        </p:nvSpPr>
        <p:spPr/>
        <p:txBody>
          <a:bodyPr/>
          <a:lstStyle/>
          <a:p>
            <a:r>
              <a:rPr lang="en-US" dirty="0"/>
              <a:t>Limitations of the Analysis</a:t>
            </a:r>
          </a:p>
        </p:txBody>
      </p:sp>
      <p:sp>
        <p:nvSpPr>
          <p:cNvPr id="3" name="Content Placeholder 2">
            <a:extLst>
              <a:ext uri="{FF2B5EF4-FFF2-40B4-BE49-F238E27FC236}">
                <a16:creationId xmlns:a16="http://schemas.microsoft.com/office/drawing/2014/main" id="{1418D51D-3060-6973-ED1C-3008D7BA4B29}"/>
              </a:ext>
            </a:extLst>
          </p:cNvPr>
          <p:cNvSpPr>
            <a:spLocks noGrp="1"/>
          </p:cNvSpPr>
          <p:nvPr>
            <p:ph idx="1"/>
          </p:nvPr>
        </p:nvSpPr>
        <p:spPr/>
        <p:txBody>
          <a:bodyPr/>
          <a:lstStyle/>
          <a:p>
            <a:r>
              <a:rPr lang="en-US" b="1" dirty="0"/>
              <a:t>1. Class Imbalance</a:t>
            </a:r>
          </a:p>
          <a:p>
            <a:r>
              <a:rPr lang="en-US" dirty="0"/>
              <a:t>Models struggled to detect CVD cases </a:t>
            </a:r>
          </a:p>
          <a:p>
            <a:r>
              <a:rPr lang="en-US" dirty="0"/>
              <a:t>Led to </a:t>
            </a:r>
            <a:r>
              <a:rPr lang="en-US" b="1" dirty="0"/>
              <a:t>low sensitivity across all models</a:t>
            </a:r>
            <a:r>
              <a:rPr lang="en-US" dirty="0"/>
              <a:t> </a:t>
            </a:r>
          </a:p>
          <a:p>
            <a:r>
              <a:rPr lang="en-US" dirty="0"/>
              <a:t>2.Some models such as RF failed to detect Presence of CVD cases.</a:t>
            </a:r>
          </a:p>
        </p:txBody>
      </p:sp>
    </p:spTree>
    <p:extLst>
      <p:ext uri="{BB962C8B-B14F-4D97-AF65-F5344CB8AC3E}">
        <p14:creationId xmlns:p14="http://schemas.microsoft.com/office/powerpoint/2010/main" val="10590516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616</TotalTime>
  <Words>1828</Words>
  <Application>Microsoft Office PowerPoint</Application>
  <PresentationFormat>Widescreen</PresentationFormat>
  <Paragraphs>126</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Trebuchet MS</vt:lpstr>
      <vt:lpstr>Wingdings 3</vt:lpstr>
      <vt:lpstr>Facet</vt:lpstr>
      <vt:lpstr>ML ASSIGNMENT TWO REPORT:MULTI-MODEL CLASSIFICAION FOR CVD PREDICTION</vt:lpstr>
      <vt:lpstr>Assignment Overview</vt:lpstr>
      <vt:lpstr>Task 1 : Data Import and Exploration</vt:lpstr>
      <vt:lpstr>Task 2 : Data Preprocessing</vt:lpstr>
      <vt:lpstr>Task 3 : Data Partitioning</vt:lpstr>
      <vt:lpstr>Task 4 : TrainControl Scheme</vt:lpstr>
      <vt:lpstr>Task 5 : Model Training – Logistic Regression</vt:lpstr>
      <vt:lpstr>Task 6 : Model Training - KNN</vt:lpstr>
      <vt:lpstr>Task 7: Model Training - SVM</vt:lpstr>
      <vt:lpstr>Task 8 : Model Training – Random Forest</vt:lpstr>
      <vt:lpstr>Task 9 : Model Evaluation And Comparison</vt:lpstr>
      <vt:lpstr>Logistic Regression Model –Confusion Matrix</vt:lpstr>
      <vt:lpstr>KNN Model  Confusion Matrix</vt:lpstr>
      <vt:lpstr>SVM Model – Confusion Matrix</vt:lpstr>
      <vt:lpstr>Random Forest – Confusion Matrix</vt:lpstr>
      <vt:lpstr>ROC Curves and AUC Values</vt:lpstr>
      <vt:lpstr>Task 10 : Interpretations and Recommendations</vt:lpstr>
      <vt:lpstr>. Top 3 Risk Factors for CVD (Best Model) </vt:lpstr>
      <vt:lpstr>Limitations of the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7</cp:revision>
  <dcterms:created xsi:type="dcterms:W3CDTF">2026-04-10T06:50:23Z</dcterms:created>
  <dcterms:modified xsi:type="dcterms:W3CDTF">2026-04-20T05:50:26Z</dcterms:modified>
</cp:coreProperties>
</file>