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7"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5" r:id="rId15"/>
    <p:sldId id="270" r:id="rId16"/>
    <p:sldId id="271" r:id="rId17"/>
    <p:sldId id="272" r:id="rId18"/>
    <p:sldId id="273" r:id="rId19"/>
    <p:sldId id="276"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65" d="100"/>
          <a:sy n="65" d="100"/>
        </p:scale>
        <p:origin x="90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lan shear" userId="9203ecaab7734b1f" providerId="LiveId" clId="{C174836B-E85B-4D85-96BE-FDEA0E72A4CB}"/>
    <pc:docChg chg="undo custSel addSld delSld modSld">
      <pc:chgData name="allan shear" userId="9203ecaab7734b1f" providerId="LiveId" clId="{C174836B-E85B-4D85-96BE-FDEA0E72A4CB}" dt="2026-04-17T07:44:49.306" v="1892" actId="20577"/>
      <pc:docMkLst>
        <pc:docMk/>
      </pc:docMkLst>
      <pc:sldChg chg="modSp mod">
        <pc:chgData name="allan shear" userId="9203ecaab7734b1f" providerId="LiveId" clId="{C174836B-E85B-4D85-96BE-FDEA0E72A4CB}" dt="2026-04-15T07:57:47.800" v="1" actId="14100"/>
        <pc:sldMkLst>
          <pc:docMk/>
          <pc:sldMk cId="3485139009" sldId="262"/>
        </pc:sldMkLst>
        <pc:spChg chg="mod">
          <ac:chgData name="allan shear" userId="9203ecaab7734b1f" providerId="LiveId" clId="{C174836B-E85B-4D85-96BE-FDEA0E72A4CB}" dt="2026-04-15T07:57:47.800" v="1" actId="14100"/>
          <ac:spMkLst>
            <pc:docMk/>
            <pc:sldMk cId="3485139009" sldId="262"/>
            <ac:spMk id="3" creationId="{BDB6F0B7-634D-9142-D655-AC78E1E29833}"/>
          </ac:spMkLst>
        </pc:spChg>
      </pc:sldChg>
      <pc:sldChg chg="addSp delSp modSp mod">
        <pc:chgData name="allan shear" userId="9203ecaab7734b1f" providerId="LiveId" clId="{C174836B-E85B-4D85-96BE-FDEA0E72A4CB}" dt="2026-04-17T06:56:41.785" v="494"/>
        <pc:sldMkLst>
          <pc:docMk/>
          <pc:sldMk cId="2015866230" sldId="268"/>
        </pc:sldMkLst>
        <pc:spChg chg="mod">
          <ac:chgData name="allan shear" userId="9203ecaab7734b1f" providerId="LiveId" clId="{C174836B-E85B-4D85-96BE-FDEA0E72A4CB}" dt="2026-04-17T06:56:39.035" v="492" actId="27636"/>
          <ac:spMkLst>
            <pc:docMk/>
            <pc:sldMk cId="2015866230" sldId="268"/>
            <ac:spMk id="3" creationId="{5B067570-C656-2913-6A37-D97E008C79FE}"/>
          </ac:spMkLst>
        </pc:spChg>
        <pc:spChg chg="add">
          <ac:chgData name="allan shear" userId="9203ecaab7734b1f" providerId="LiveId" clId="{C174836B-E85B-4D85-96BE-FDEA0E72A4CB}" dt="2026-04-17T06:52:47.888" v="180"/>
          <ac:spMkLst>
            <pc:docMk/>
            <pc:sldMk cId="2015866230" sldId="268"/>
            <ac:spMk id="4" creationId="{F3B4D13F-4D0C-07F6-010B-B3325EC19D52}"/>
          </ac:spMkLst>
        </pc:spChg>
        <pc:spChg chg="add mod">
          <ac:chgData name="allan shear" userId="9203ecaab7734b1f" providerId="LiveId" clId="{C174836B-E85B-4D85-96BE-FDEA0E72A4CB}" dt="2026-04-17T06:56:01.442" v="404" actId="6549"/>
          <ac:spMkLst>
            <pc:docMk/>
            <pc:sldMk cId="2015866230" sldId="268"/>
            <ac:spMk id="5" creationId="{60BEE5B1-938A-74F4-4741-32929312CEDE}"/>
          </ac:spMkLst>
        </pc:spChg>
        <pc:spChg chg="add del mod">
          <ac:chgData name="allan shear" userId="9203ecaab7734b1f" providerId="LiveId" clId="{C174836B-E85B-4D85-96BE-FDEA0E72A4CB}" dt="2026-04-17T06:56:41.785" v="494"/>
          <ac:spMkLst>
            <pc:docMk/>
            <pc:sldMk cId="2015866230" sldId="268"/>
            <ac:spMk id="6" creationId="{1A9A1A31-5553-E21B-D34A-7A1FC54A4594}"/>
          </ac:spMkLst>
        </pc:spChg>
      </pc:sldChg>
      <pc:sldChg chg="addSp delSp modSp new del mod">
        <pc:chgData name="allan shear" userId="9203ecaab7734b1f" providerId="LiveId" clId="{C174836B-E85B-4D85-96BE-FDEA0E72A4CB}" dt="2026-04-17T06:58:33.878" v="683" actId="2696"/>
        <pc:sldMkLst>
          <pc:docMk/>
          <pc:sldMk cId="3615257383" sldId="269"/>
        </pc:sldMkLst>
        <pc:spChg chg="mod">
          <ac:chgData name="allan shear" userId="9203ecaab7734b1f" providerId="LiveId" clId="{C174836B-E85B-4D85-96BE-FDEA0E72A4CB}" dt="2026-04-17T06:40:09.498" v="28" actId="20577"/>
          <ac:spMkLst>
            <pc:docMk/>
            <pc:sldMk cId="3615257383" sldId="269"/>
            <ac:spMk id="2" creationId="{FA459B69-5B53-4A93-0B86-DA5F92ABF9EA}"/>
          </ac:spMkLst>
        </pc:spChg>
        <pc:spChg chg="del">
          <ac:chgData name="allan shear" userId="9203ecaab7734b1f" providerId="LiveId" clId="{C174836B-E85B-4D85-96BE-FDEA0E72A4CB}" dt="2026-04-17T06:57:13.531" v="495"/>
          <ac:spMkLst>
            <pc:docMk/>
            <pc:sldMk cId="3615257383" sldId="269"/>
            <ac:spMk id="3" creationId="{BACF7025-9C22-95F9-C30C-893EBB454B49}"/>
          </ac:spMkLst>
        </pc:spChg>
        <pc:spChg chg="add mod">
          <ac:chgData name="allan shear" userId="9203ecaab7734b1f" providerId="LiveId" clId="{C174836B-E85B-4D85-96BE-FDEA0E72A4CB}" dt="2026-04-17T06:58:22.994" v="682" actId="20577"/>
          <ac:spMkLst>
            <pc:docMk/>
            <pc:sldMk cId="3615257383" sldId="269"/>
            <ac:spMk id="4" creationId="{F45C92EE-D221-02D1-B4C2-C1E3B405942A}"/>
          </ac:spMkLst>
        </pc:spChg>
      </pc:sldChg>
      <pc:sldChg chg="modSp new mod">
        <pc:chgData name="allan shear" userId="9203ecaab7734b1f" providerId="LiveId" clId="{C174836B-E85B-4D85-96BE-FDEA0E72A4CB}" dt="2026-04-17T07:12:15.322" v="1075" actId="27636"/>
        <pc:sldMkLst>
          <pc:docMk/>
          <pc:sldMk cId="3457853155" sldId="270"/>
        </pc:sldMkLst>
        <pc:spChg chg="mod">
          <ac:chgData name="allan shear" userId="9203ecaab7734b1f" providerId="LiveId" clId="{C174836B-E85B-4D85-96BE-FDEA0E72A4CB}" dt="2026-04-17T06:40:29.877" v="55" actId="20577"/>
          <ac:spMkLst>
            <pc:docMk/>
            <pc:sldMk cId="3457853155" sldId="270"/>
            <ac:spMk id="2" creationId="{816E2307-5FC5-31DC-6ECF-B6EEFEBFE3E8}"/>
          </ac:spMkLst>
        </pc:spChg>
        <pc:spChg chg="mod">
          <ac:chgData name="allan shear" userId="9203ecaab7734b1f" providerId="LiveId" clId="{C174836B-E85B-4D85-96BE-FDEA0E72A4CB}" dt="2026-04-17T07:12:15.322" v="1075" actId="27636"/>
          <ac:spMkLst>
            <pc:docMk/>
            <pc:sldMk cId="3457853155" sldId="270"/>
            <ac:spMk id="3" creationId="{1EF76896-45C5-18F8-4FCD-0D4573E74B52}"/>
          </ac:spMkLst>
        </pc:spChg>
      </pc:sldChg>
      <pc:sldChg chg="modSp new mod">
        <pc:chgData name="allan shear" userId="9203ecaab7734b1f" providerId="LiveId" clId="{C174836B-E85B-4D85-96BE-FDEA0E72A4CB}" dt="2026-04-17T07:16:27.922" v="1107" actId="20577"/>
        <pc:sldMkLst>
          <pc:docMk/>
          <pc:sldMk cId="297845221" sldId="271"/>
        </pc:sldMkLst>
        <pc:spChg chg="mod">
          <ac:chgData name="allan shear" userId="9203ecaab7734b1f" providerId="LiveId" clId="{C174836B-E85B-4D85-96BE-FDEA0E72A4CB}" dt="2026-04-17T06:41:03.947" v="95" actId="20577"/>
          <ac:spMkLst>
            <pc:docMk/>
            <pc:sldMk cId="297845221" sldId="271"/>
            <ac:spMk id="2" creationId="{2335F2DA-2EF6-10CD-6CA7-2F38412FBDB4}"/>
          </ac:spMkLst>
        </pc:spChg>
        <pc:spChg chg="mod">
          <ac:chgData name="allan shear" userId="9203ecaab7734b1f" providerId="LiveId" clId="{C174836B-E85B-4D85-96BE-FDEA0E72A4CB}" dt="2026-04-17T07:16:27.922" v="1107" actId="20577"/>
          <ac:spMkLst>
            <pc:docMk/>
            <pc:sldMk cId="297845221" sldId="271"/>
            <ac:spMk id="3" creationId="{62EAC769-7DE6-639E-79CB-2F62A378CE05}"/>
          </ac:spMkLst>
        </pc:spChg>
      </pc:sldChg>
      <pc:sldChg chg="addSp modSp new mod">
        <pc:chgData name="allan shear" userId="9203ecaab7734b1f" providerId="LiveId" clId="{C174836B-E85B-4D85-96BE-FDEA0E72A4CB}" dt="2026-04-17T07:22:29.948" v="1381" actId="20577"/>
        <pc:sldMkLst>
          <pc:docMk/>
          <pc:sldMk cId="380035698" sldId="272"/>
        </pc:sldMkLst>
        <pc:spChg chg="mod">
          <ac:chgData name="allan shear" userId="9203ecaab7734b1f" providerId="LiveId" clId="{C174836B-E85B-4D85-96BE-FDEA0E72A4CB}" dt="2026-04-17T06:42:42.481" v="123" actId="20577"/>
          <ac:spMkLst>
            <pc:docMk/>
            <pc:sldMk cId="380035698" sldId="272"/>
            <ac:spMk id="2" creationId="{0A915195-8ECB-2E77-C9B0-D9A45FA31355}"/>
          </ac:spMkLst>
        </pc:spChg>
        <pc:spChg chg="mod">
          <ac:chgData name="allan shear" userId="9203ecaab7734b1f" providerId="LiveId" clId="{C174836B-E85B-4D85-96BE-FDEA0E72A4CB}" dt="2026-04-17T07:22:29.948" v="1381" actId="20577"/>
          <ac:spMkLst>
            <pc:docMk/>
            <pc:sldMk cId="380035698" sldId="272"/>
            <ac:spMk id="3" creationId="{7196E6BA-5BCC-3BCC-71DF-9F282761F91F}"/>
          </ac:spMkLst>
        </pc:spChg>
        <pc:spChg chg="add mod">
          <ac:chgData name="allan shear" userId="9203ecaab7734b1f" providerId="LiveId" clId="{C174836B-E85B-4D85-96BE-FDEA0E72A4CB}" dt="2026-04-17T07:17:56.598" v="1111"/>
          <ac:spMkLst>
            <pc:docMk/>
            <pc:sldMk cId="380035698" sldId="272"/>
            <ac:spMk id="5" creationId="{2093DA3D-9400-C413-2045-C91745736C36}"/>
          </ac:spMkLst>
        </pc:spChg>
        <pc:spChg chg="add mod">
          <ac:chgData name="allan shear" userId="9203ecaab7734b1f" providerId="LiveId" clId="{C174836B-E85B-4D85-96BE-FDEA0E72A4CB}" dt="2026-04-17T07:18:44.070" v="1157"/>
          <ac:spMkLst>
            <pc:docMk/>
            <pc:sldMk cId="380035698" sldId="272"/>
            <ac:spMk id="7" creationId="{8D98EC34-91C8-F9BC-D854-67FBA50339FD}"/>
          </ac:spMkLst>
        </pc:spChg>
        <pc:graphicFrameChg chg="add mod">
          <ac:chgData name="allan shear" userId="9203ecaab7734b1f" providerId="LiveId" clId="{C174836B-E85B-4D85-96BE-FDEA0E72A4CB}" dt="2026-04-17T07:17:49.559" v="1110"/>
          <ac:graphicFrameMkLst>
            <pc:docMk/>
            <pc:sldMk cId="380035698" sldId="272"/>
            <ac:graphicFrameMk id="4" creationId="{1B8C0A75-31B0-A4D7-E284-FF49D13FF7EE}"/>
          </ac:graphicFrameMkLst>
        </pc:graphicFrameChg>
        <pc:graphicFrameChg chg="add mod">
          <ac:chgData name="allan shear" userId="9203ecaab7734b1f" providerId="LiveId" clId="{C174836B-E85B-4D85-96BE-FDEA0E72A4CB}" dt="2026-04-17T07:18:27.654" v="1150"/>
          <ac:graphicFrameMkLst>
            <pc:docMk/>
            <pc:sldMk cId="380035698" sldId="272"/>
            <ac:graphicFrameMk id="6" creationId="{5ADA5402-5DB3-1E38-73BB-C3AA02C247F6}"/>
          </ac:graphicFrameMkLst>
        </pc:graphicFrameChg>
      </pc:sldChg>
      <pc:sldChg chg="addSp delSp modSp new mod">
        <pc:chgData name="allan shear" userId="9203ecaab7734b1f" providerId="LiveId" clId="{C174836B-E85B-4D85-96BE-FDEA0E72A4CB}" dt="2026-04-17T07:41:25.717" v="1678" actId="20577"/>
        <pc:sldMkLst>
          <pc:docMk/>
          <pc:sldMk cId="349528866" sldId="273"/>
        </pc:sldMkLst>
        <pc:spChg chg="mod">
          <ac:chgData name="allan shear" userId="9203ecaab7734b1f" providerId="LiveId" clId="{C174836B-E85B-4D85-96BE-FDEA0E72A4CB}" dt="2026-04-17T06:43:55.163" v="171" actId="20577"/>
          <ac:spMkLst>
            <pc:docMk/>
            <pc:sldMk cId="349528866" sldId="273"/>
            <ac:spMk id="2" creationId="{DDB0CFC0-A8BB-C643-02EB-C5DD96F89D0A}"/>
          </ac:spMkLst>
        </pc:spChg>
        <pc:spChg chg="add del mod">
          <ac:chgData name="allan shear" userId="9203ecaab7734b1f" providerId="LiveId" clId="{C174836B-E85B-4D85-96BE-FDEA0E72A4CB}" dt="2026-04-17T07:41:25.717" v="1678" actId="20577"/>
          <ac:spMkLst>
            <pc:docMk/>
            <pc:sldMk cId="349528866" sldId="273"/>
            <ac:spMk id="3" creationId="{CE8CADAB-1CC1-B1F9-8B48-C7FB62B0C239}"/>
          </ac:spMkLst>
        </pc:spChg>
        <pc:spChg chg="add">
          <ac:chgData name="allan shear" userId="9203ecaab7734b1f" providerId="LiveId" clId="{C174836B-E85B-4D85-96BE-FDEA0E72A4CB}" dt="2026-04-17T07:24:02.837" v="1382"/>
          <ac:spMkLst>
            <pc:docMk/>
            <pc:sldMk cId="349528866" sldId="273"/>
            <ac:spMk id="5" creationId="{B97662D5-3B4E-AEC8-5E78-E38A60DB7E86}"/>
          </ac:spMkLst>
        </pc:spChg>
        <pc:graphicFrameChg chg="add mod">
          <ac:chgData name="allan shear" userId="9203ecaab7734b1f" providerId="LiveId" clId="{C174836B-E85B-4D85-96BE-FDEA0E72A4CB}" dt="2026-04-17T07:24:09.236" v="1383"/>
          <ac:graphicFrameMkLst>
            <pc:docMk/>
            <pc:sldMk cId="349528866" sldId="273"/>
            <ac:graphicFrameMk id="4" creationId="{B7023AFE-4610-5882-E830-D111CC40B4A6}"/>
          </ac:graphicFrameMkLst>
        </pc:graphicFrameChg>
      </pc:sldChg>
      <pc:sldChg chg="add del">
        <pc:chgData name="allan shear" userId="9203ecaab7734b1f" providerId="LiveId" clId="{C174836B-E85B-4D85-96BE-FDEA0E72A4CB}" dt="2026-04-17T06:59:06.640" v="717" actId="2696"/>
        <pc:sldMkLst>
          <pc:docMk/>
          <pc:sldMk cId="2460853523" sldId="274"/>
        </pc:sldMkLst>
      </pc:sldChg>
      <pc:sldChg chg="new del">
        <pc:chgData name="allan shear" userId="9203ecaab7734b1f" providerId="LiveId" clId="{C174836B-E85B-4D85-96BE-FDEA0E72A4CB}" dt="2026-04-17T06:58:42.776" v="686" actId="2696"/>
        <pc:sldMkLst>
          <pc:docMk/>
          <pc:sldMk cId="2882693705" sldId="274"/>
        </pc:sldMkLst>
      </pc:sldChg>
      <pc:sldChg chg="modSp new mod">
        <pc:chgData name="allan shear" userId="9203ecaab7734b1f" providerId="LiveId" clId="{C174836B-E85B-4D85-96BE-FDEA0E72A4CB}" dt="2026-04-17T07:06:23.568" v="897"/>
        <pc:sldMkLst>
          <pc:docMk/>
          <pc:sldMk cId="2715686533" sldId="275"/>
        </pc:sldMkLst>
        <pc:spChg chg="mod">
          <ac:chgData name="allan shear" userId="9203ecaab7734b1f" providerId="LiveId" clId="{C174836B-E85B-4D85-96BE-FDEA0E72A4CB}" dt="2026-04-17T06:58:56.156" v="715" actId="20577"/>
          <ac:spMkLst>
            <pc:docMk/>
            <pc:sldMk cId="2715686533" sldId="275"/>
            <ac:spMk id="2" creationId="{180A1722-7876-C78B-FB30-BE6354BCFC1D}"/>
          </ac:spMkLst>
        </pc:spChg>
        <pc:spChg chg="mod">
          <ac:chgData name="allan shear" userId="9203ecaab7734b1f" providerId="LiveId" clId="{C174836B-E85B-4D85-96BE-FDEA0E72A4CB}" dt="2026-04-17T07:06:23.568" v="897"/>
          <ac:spMkLst>
            <pc:docMk/>
            <pc:sldMk cId="2715686533" sldId="275"/>
            <ac:spMk id="3" creationId="{8CD78A70-6E81-477E-7E75-23E892579453}"/>
          </ac:spMkLst>
        </pc:spChg>
      </pc:sldChg>
      <pc:sldChg chg="modSp new mod">
        <pc:chgData name="allan shear" userId="9203ecaab7734b1f" providerId="LiveId" clId="{C174836B-E85B-4D85-96BE-FDEA0E72A4CB}" dt="2026-04-17T07:44:49.306" v="1892" actId="20577"/>
        <pc:sldMkLst>
          <pc:docMk/>
          <pc:sldMk cId="2286831364" sldId="276"/>
        </pc:sldMkLst>
        <pc:spChg chg="mod">
          <ac:chgData name="allan shear" userId="9203ecaab7734b1f" providerId="LiveId" clId="{C174836B-E85B-4D85-96BE-FDEA0E72A4CB}" dt="2026-04-17T07:42:55.130" v="1718" actId="20577"/>
          <ac:spMkLst>
            <pc:docMk/>
            <pc:sldMk cId="2286831364" sldId="276"/>
            <ac:spMk id="2" creationId="{719B9FE2-C97A-4EE0-2D2C-898BCD1ED309}"/>
          </ac:spMkLst>
        </pc:spChg>
        <pc:spChg chg="mod">
          <ac:chgData name="allan shear" userId="9203ecaab7734b1f" providerId="LiveId" clId="{C174836B-E85B-4D85-96BE-FDEA0E72A4CB}" dt="2026-04-17T07:44:49.306" v="1892" actId="20577"/>
          <ac:spMkLst>
            <pc:docMk/>
            <pc:sldMk cId="2286831364" sldId="276"/>
            <ac:spMk id="3" creationId="{DF38EDC9-0A67-4C91-8551-AB325BB9E9EF}"/>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8FB97F0-8AC7-44F2-8678-B9851B92878C}"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E794BA-CB5B-4BF9-9FB1-47282E97334A}" type="slidenum">
              <a:rPr lang="en-US" smtClean="0"/>
              <a:t>‹#›</a:t>
            </a:fld>
            <a:endParaRPr lang="en-US"/>
          </a:p>
        </p:txBody>
      </p:sp>
    </p:spTree>
    <p:extLst>
      <p:ext uri="{BB962C8B-B14F-4D97-AF65-F5344CB8AC3E}">
        <p14:creationId xmlns:p14="http://schemas.microsoft.com/office/powerpoint/2010/main" val="25960343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98FB97F0-8AC7-44F2-8678-B9851B92878C}"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E794BA-CB5B-4BF9-9FB1-47282E97334A}" type="slidenum">
              <a:rPr lang="en-US" smtClean="0"/>
              <a:t>‹#›</a:t>
            </a:fld>
            <a:endParaRPr lang="en-US"/>
          </a:p>
        </p:txBody>
      </p:sp>
    </p:spTree>
    <p:extLst>
      <p:ext uri="{BB962C8B-B14F-4D97-AF65-F5344CB8AC3E}">
        <p14:creationId xmlns:p14="http://schemas.microsoft.com/office/powerpoint/2010/main" val="30915646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8FB97F0-8AC7-44F2-8678-B9851B92878C}"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E794BA-CB5B-4BF9-9FB1-47282E97334A}" type="slidenum">
              <a:rPr lang="en-US" smtClean="0"/>
              <a:t>‹#›</a:t>
            </a:fld>
            <a:endParaRPr lang="en-US"/>
          </a:p>
        </p:txBody>
      </p:sp>
    </p:spTree>
    <p:extLst>
      <p:ext uri="{BB962C8B-B14F-4D97-AF65-F5344CB8AC3E}">
        <p14:creationId xmlns:p14="http://schemas.microsoft.com/office/powerpoint/2010/main" val="22689193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8FB97F0-8AC7-44F2-8678-B9851B92878C}" type="datetimeFigureOut">
              <a:rPr lang="en-US" smtClean="0"/>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E794BA-CB5B-4BF9-9FB1-47282E97334A}" type="slidenum">
              <a:rPr lang="en-US" smtClean="0"/>
              <a:t>‹#›</a:t>
            </a:fld>
            <a:endParaRPr lang="en-US"/>
          </a:p>
        </p:txBody>
      </p:sp>
    </p:spTree>
    <p:extLst>
      <p:ext uri="{BB962C8B-B14F-4D97-AF65-F5344CB8AC3E}">
        <p14:creationId xmlns:p14="http://schemas.microsoft.com/office/powerpoint/2010/main" val="29482677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8FB97F0-8AC7-44F2-8678-B9851B92878C}" type="datetimeFigureOut">
              <a:rPr lang="en-US" smtClean="0"/>
              <a:t>4/20/2026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6E794BA-CB5B-4BF9-9FB1-47282E97334A}" type="slidenum">
              <a:rPr lang="en-US" smtClean="0"/>
              <a:t>‹#›</a:t>
            </a:fld>
            <a:endParaRPr lang="en-US"/>
          </a:p>
        </p:txBody>
      </p:sp>
    </p:spTree>
    <p:extLst>
      <p:ext uri="{BB962C8B-B14F-4D97-AF65-F5344CB8AC3E}">
        <p14:creationId xmlns:p14="http://schemas.microsoft.com/office/powerpoint/2010/main" val="31824234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98FB97F0-8AC7-44F2-8678-B9851B92878C}" type="datetimeFigureOut">
              <a:rPr lang="en-US" smtClean="0"/>
              <a:t>4/20/2026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D6E794BA-CB5B-4BF9-9FB1-47282E97334A}" type="slidenum">
              <a:rPr lang="en-US" smtClean="0"/>
              <a:t>‹#›</a:t>
            </a:fld>
            <a:endParaRPr lang="en-US"/>
          </a:p>
        </p:txBody>
      </p:sp>
    </p:spTree>
    <p:extLst>
      <p:ext uri="{BB962C8B-B14F-4D97-AF65-F5344CB8AC3E}">
        <p14:creationId xmlns:p14="http://schemas.microsoft.com/office/powerpoint/2010/main" val="6985808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98FB97F0-8AC7-44F2-8678-B9851B92878C}" type="datetimeFigureOut">
              <a:rPr lang="en-US" smtClean="0"/>
              <a:t>4/20/2026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D6E794BA-CB5B-4BF9-9FB1-47282E97334A}" type="slidenum">
              <a:rPr lang="en-US" smtClean="0"/>
              <a:t>‹#›</a:t>
            </a:fld>
            <a:endParaRPr lang="en-US"/>
          </a:p>
        </p:txBody>
      </p:sp>
    </p:spTree>
    <p:extLst>
      <p:ext uri="{BB962C8B-B14F-4D97-AF65-F5344CB8AC3E}">
        <p14:creationId xmlns:p14="http://schemas.microsoft.com/office/powerpoint/2010/main" val="7739005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98FB97F0-8AC7-44F2-8678-B9851B92878C}" type="datetimeFigureOut">
              <a:rPr lang="en-US" smtClean="0"/>
              <a:t>4/20/2026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D6E794BA-CB5B-4BF9-9FB1-47282E97334A}" type="slidenum">
              <a:rPr lang="en-US" smtClean="0"/>
              <a:t>‹#›</a:t>
            </a:fld>
            <a:endParaRPr lang="en-US"/>
          </a:p>
        </p:txBody>
      </p:sp>
    </p:spTree>
    <p:extLst>
      <p:ext uri="{BB962C8B-B14F-4D97-AF65-F5344CB8AC3E}">
        <p14:creationId xmlns:p14="http://schemas.microsoft.com/office/powerpoint/2010/main" val="30213674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8FB97F0-8AC7-44F2-8678-B9851B92878C}" type="datetimeFigureOut">
              <a:rPr lang="en-US" smtClean="0"/>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E794BA-CB5B-4BF9-9FB1-47282E97334A}" type="slidenum">
              <a:rPr lang="en-US" smtClean="0"/>
              <a:t>‹#›</a:t>
            </a:fld>
            <a:endParaRPr lang="en-US"/>
          </a:p>
        </p:txBody>
      </p:sp>
    </p:spTree>
    <p:extLst>
      <p:ext uri="{BB962C8B-B14F-4D97-AF65-F5344CB8AC3E}">
        <p14:creationId xmlns:p14="http://schemas.microsoft.com/office/powerpoint/2010/main" val="12891644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8FB97F0-8AC7-44F2-8678-B9851B92878C}" type="datetimeFigureOut">
              <a:rPr lang="en-US" smtClean="0"/>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E794BA-CB5B-4BF9-9FB1-47282E97334A}" type="slidenum">
              <a:rPr lang="en-US" smtClean="0"/>
              <a:t>‹#›</a:t>
            </a:fld>
            <a:endParaRPr lang="en-US"/>
          </a:p>
        </p:txBody>
      </p:sp>
    </p:spTree>
    <p:extLst>
      <p:ext uri="{BB962C8B-B14F-4D97-AF65-F5344CB8AC3E}">
        <p14:creationId xmlns:p14="http://schemas.microsoft.com/office/powerpoint/2010/main" val="26607463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98FB97F0-8AC7-44F2-8678-B9851B92878C}"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E794BA-CB5B-4BF9-9FB1-47282E97334A}" type="slidenum">
              <a:rPr lang="en-US" smtClean="0"/>
              <a:t>‹#›</a:t>
            </a:fld>
            <a:endParaRPr lang="en-US"/>
          </a:p>
        </p:txBody>
      </p:sp>
    </p:spTree>
    <p:extLst>
      <p:ext uri="{BB962C8B-B14F-4D97-AF65-F5344CB8AC3E}">
        <p14:creationId xmlns:p14="http://schemas.microsoft.com/office/powerpoint/2010/main" val="35806701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98FB97F0-8AC7-44F2-8678-B9851B92878C}"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E794BA-CB5B-4BF9-9FB1-47282E97334A}"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3320859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8FB97F0-8AC7-44F2-8678-B9851B92878C}"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E794BA-CB5B-4BF9-9FB1-47282E97334A}" type="slidenum">
              <a:rPr lang="en-US" smtClean="0"/>
              <a:t>‹#›</a:t>
            </a:fld>
            <a:endParaRPr lang="en-US"/>
          </a:p>
        </p:txBody>
      </p:sp>
    </p:spTree>
    <p:extLst>
      <p:ext uri="{BB962C8B-B14F-4D97-AF65-F5344CB8AC3E}">
        <p14:creationId xmlns:p14="http://schemas.microsoft.com/office/powerpoint/2010/main" val="1303818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98FB97F0-8AC7-44F2-8678-B9851B92878C}" type="datetimeFigureOut">
              <a:rPr lang="en-US" smtClean="0"/>
              <a:t>4/20/2026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E794BA-CB5B-4BF9-9FB1-47282E97334A}" type="slidenum">
              <a:rPr lang="en-US" smtClean="0"/>
              <a:t>‹#›</a:t>
            </a:fld>
            <a:endParaRPr lang="en-US"/>
          </a:p>
        </p:txBody>
      </p:sp>
    </p:spTree>
    <p:extLst>
      <p:ext uri="{BB962C8B-B14F-4D97-AF65-F5344CB8AC3E}">
        <p14:creationId xmlns:p14="http://schemas.microsoft.com/office/powerpoint/2010/main" val="28104633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98FB97F0-8AC7-44F2-8678-B9851B92878C}" type="datetimeFigureOut">
              <a:rPr lang="en-US" smtClean="0"/>
              <a:t>4/20/2026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E794BA-CB5B-4BF9-9FB1-47282E97334A}" type="slidenum">
              <a:rPr lang="en-US" smtClean="0"/>
              <a:t>‹#›</a:t>
            </a:fld>
            <a:endParaRPr lang="en-US"/>
          </a:p>
        </p:txBody>
      </p:sp>
    </p:spTree>
    <p:extLst>
      <p:ext uri="{BB962C8B-B14F-4D97-AF65-F5344CB8AC3E}">
        <p14:creationId xmlns:p14="http://schemas.microsoft.com/office/powerpoint/2010/main" val="5014890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FB97F0-8AC7-44F2-8678-B9851B92878C}"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E794BA-CB5B-4BF9-9FB1-47282E97334A}" type="slidenum">
              <a:rPr lang="en-US" smtClean="0"/>
              <a:t>‹#›</a:t>
            </a:fld>
            <a:endParaRPr lang="en-US"/>
          </a:p>
        </p:txBody>
      </p:sp>
    </p:spTree>
    <p:extLst>
      <p:ext uri="{BB962C8B-B14F-4D97-AF65-F5344CB8AC3E}">
        <p14:creationId xmlns:p14="http://schemas.microsoft.com/office/powerpoint/2010/main" val="36654534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FB97F0-8AC7-44F2-8678-B9851B92878C}"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E794BA-CB5B-4BF9-9FB1-47282E97334A}" type="slidenum">
              <a:rPr lang="en-US" smtClean="0"/>
              <a:t>‹#›</a:t>
            </a:fld>
            <a:endParaRPr lang="en-US"/>
          </a:p>
        </p:txBody>
      </p:sp>
    </p:spTree>
    <p:extLst>
      <p:ext uri="{BB962C8B-B14F-4D97-AF65-F5344CB8AC3E}">
        <p14:creationId xmlns:p14="http://schemas.microsoft.com/office/powerpoint/2010/main" val="12358275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98FB97F0-8AC7-44F2-8678-B9851B92878C}" type="datetimeFigureOut">
              <a:rPr lang="en-US" smtClean="0"/>
              <a:t>4/20/2026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6E794BA-CB5B-4BF9-9FB1-47282E97334A}" type="slidenum">
              <a:rPr lang="en-US" smtClean="0"/>
              <a:t>‹#›</a:t>
            </a:fld>
            <a:endParaRPr lang="en-US"/>
          </a:p>
        </p:txBody>
      </p:sp>
    </p:spTree>
    <p:extLst>
      <p:ext uri="{BB962C8B-B14F-4D97-AF65-F5344CB8AC3E}">
        <p14:creationId xmlns:p14="http://schemas.microsoft.com/office/powerpoint/2010/main" val="3124716165"/>
      </p:ext>
    </p:extLst>
  </p:cSld>
  <p:clrMap bg1="dk1" tx1="lt1" bg2="dk2" tx2="lt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 id="2147483749" r:id="rId12"/>
    <p:sldLayoutId id="2147483750" r:id="rId13"/>
    <p:sldLayoutId id="2147483751" r:id="rId14"/>
    <p:sldLayoutId id="2147483752" r:id="rId15"/>
    <p:sldLayoutId id="2147483753" r:id="rId16"/>
    <p:sldLayoutId id="2147483754"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B37A7-D7B5-3741-668A-42BC9166ABE7}"/>
              </a:ext>
            </a:extLst>
          </p:cNvPr>
          <p:cNvSpPr>
            <a:spLocks noGrp="1"/>
          </p:cNvSpPr>
          <p:nvPr>
            <p:ph type="ctrTitle"/>
          </p:nvPr>
        </p:nvSpPr>
        <p:spPr/>
        <p:txBody>
          <a:bodyPr/>
          <a:lstStyle/>
          <a:p>
            <a:r>
              <a:rPr lang="en-US" dirty="0"/>
              <a:t>ML ASSIGNMENT THREE REPORT</a:t>
            </a:r>
          </a:p>
        </p:txBody>
      </p:sp>
      <p:sp>
        <p:nvSpPr>
          <p:cNvPr id="3" name="Subtitle 2">
            <a:extLst>
              <a:ext uri="{FF2B5EF4-FFF2-40B4-BE49-F238E27FC236}">
                <a16:creationId xmlns:a16="http://schemas.microsoft.com/office/drawing/2014/main" id="{7270527F-CBBE-8724-9997-A44DE49F1500}"/>
              </a:ext>
            </a:extLst>
          </p:cNvPr>
          <p:cNvSpPr>
            <a:spLocks noGrp="1"/>
          </p:cNvSpPr>
          <p:nvPr>
            <p:ph type="subTitle" idx="1"/>
          </p:nvPr>
        </p:nvSpPr>
        <p:spPr/>
        <p:txBody>
          <a:bodyPr/>
          <a:lstStyle/>
          <a:p>
            <a:r>
              <a:rPr lang="en-US" dirty="0"/>
              <a:t>Authored by Eliud Mule</a:t>
            </a:r>
          </a:p>
        </p:txBody>
      </p:sp>
    </p:spTree>
    <p:extLst>
      <p:ext uri="{BB962C8B-B14F-4D97-AF65-F5344CB8AC3E}">
        <p14:creationId xmlns:p14="http://schemas.microsoft.com/office/powerpoint/2010/main" val="34796371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F7D2C-1CA0-CC76-4ECC-264B9577CB8E}"/>
              </a:ext>
            </a:extLst>
          </p:cNvPr>
          <p:cNvSpPr>
            <a:spLocks noGrp="1"/>
          </p:cNvSpPr>
          <p:nvPr>
            <p:ph type="title"/>
          </p:nvPr>
        </p:nvSpPr>
        <p:spPr/>
        <p:txBody>
          <a:bodyPr/>
          <a:lstStyle/>
          <a:p>
            <a:r>
              <a:rPr lang="en-US" dirty="0"/>
              <a:t>Assignment Purpose</a:t>
            </a:r>
          </a:p>
        </p:txBody>
      </p:sp>
      <p:sp>
        <p:nvSpPr>
          <p:cNvPr id="3" name="Content Placeholder 2">
            <a:extLst>
              <a:ext uri="{FF2B5EF4-FFF2-40B4-BE49-F238E27FC236}">
                <a16:creationId xmlns:a16="http://schemas.microsoft.com/office/drawing/2014/main" id="{0B62031E-3811-E170-02FA-5619F7A5A358}"/>
              </a:ext>
            </a:extLst>
          </p:cNvPr>
          <p:cNvSpPr>
            <a:spLocks noGrp="1"/>
          </p:cNvSpPr>
          <p:nvPr>
            <p:ph idx="1"/>
          </p:nvPr>
        </p:nvSpPr>
        <p:spPr/>
        <p:txBody>
          <a:bodyPr>
            <a:normAutofit/>
          </a:bodyPr>
          <a:lstStyle/>
          <a:p>
            <a:r>
              <a:rPr lang="en-US" dirty="0"/>
              <a:t>• Implement multiple classification algorithms in R (Logistic, KNN, SVM, RF)</a:t>
            </a:r>
          </a:p>
          <a:p>
            <a:r>
              <a:rPr lang="en-US" dirty="0"/>
              <a:t>  Apply appropriate preprocessing for different model types</a:t>
            </a:r>
          </a:p>
          <a:p>
            <a:r>
              <a:rPr lang="en-US" dirty="0"/>
              <a:t>  Create and use </a:t>
            </a:r>
            <a:r>
              <a:rPr lang="en-US" dirty="0" err="1"/>
              <a:t>trainControl</a:t>
            </a:r>
            <a:r>
              <a:rPr lang="en-US" dirty="0"/>
              <a:t> schemes for cross-validation </a:t>
            </a:r>
          </a:p>
          <a:p>
            <a:r>
              <a:rPr lang="en-US" dirty="0"/>
              <a:t> Evaluate and compare model performance using multiple metrics </a:t>
            </a:r>
          </a:p>
          <a:p>
            <a:r>
              <a:rPr lang="en-US" dirty="0"/>
              <a:t> Interpret model-specific outputs (coefficients, importance, support vectors)</a:t>
            </a:r>
          </a:p>
          <a:p>
            <a:r>
              <a:rPr lang="en-US" dirty="0"/>
              <a:t> Make evidence-based model selection recommendation</a:t>
            </a:r>
          </a:p>
          <a:p>
            <a:r>
              <a:rPr lang="en-US" dirty="0"/>
              <a:t>Goal : Predict Customer churn using multiple machine learning Models</a:t>
            </a:r>
          </a:p>
        </p:txBody>
      </p:sp>
    </p:spTree>
    <p:extLst>
      <p:ext uri="{BB962C8B-B14F-4D97-AF65-F5344CB8AC3E}">
        <p14:creationId xmlns:p14="http://schemas.microsoft.com/office/powerpoint/2010/main" val="20894886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BFAF2-7DAA-81F6-1A81-3CC6D2D6DE37}"/>
              </a:ext>
            </a:extLst>
          </p:cNvPr>
          <p:cNvSpPr>
            <a:spLocks noGrp="1"/>
          </p:cNvSpPr>
          <p:nvPr>
            <p:ph type="title"/>
          </p:nvPr>
        </p:nvSpPr>
        <p:spPr/>
        <p:txBody>
          <a:bodyPr/>
          <a:lstStyle/>
          <a:p>
            <a:r>
              <a:rPr lang="en-US" dirty="0"/>
              <a:t>Task 1 : Data Import and Exploration</a:t>
            </a:r>
          </a:p>
        </p:txBody>
      </p:sp>
      <p:sp>
        <p:nvSpPr>
          <p:cNvPr id="3" name="Content Placeholder 2">
            <a:extLst>
              <a:ext uri="{FF2B5EF4-FFF2-40B4-BE49-F238E27FC236}">
                <a16:creationId xmlns:a16="http://schemas.microsoft.com/office/drawing/2014/main" id="{15391359-809A-7BA9-E1C0-0A4D2436E4D5}"/>
              </a:ext>
            </a:extLst>
          </p:cNvPr>
          <p:cNvSpPr>
            <a:spLocks noGrp="1"/>
          </p:cNvSpPr>
          <p:nvPr>
            <p:ph idx="1"/>
          </p:nvPr>
        </p:nvSpPr>
        <p:spPr/>
        <p:txBody>
          <a:bodyPr>
            <a:normAutofit/>
          </a:bodyPr>
          <a:lstStyle/>
          <a:p>
            <a:r>
              <a:rPr lang="en-US" dirty="0"/>
              <a:t>The  business churn dataset contains 2560 observations and 17 variables, including the target variable "Churn". The variables include a mix of numeric and categorical features, which will require appropriate preprocessing before model training.</a:t>
            </a:r>
          </a:p>
          <a:p>
            <a:r>
              <a:rPr lang="en-US" dirty="0"/>
              <a:t>After checking for missing </a:t>
            </a:r>
            <a:r>
              <a:rPr lang="en-US" dirty="0" err="1"/>
              <a:t>values,there</a:t>
            </a:r>
            <a:r>
              <a:rPr lang="en-US" dirty="0"/>
              <a:t> were no missing values in the dataset, so we can proceed with the analysis without needing to impute or remove any data.</a:t>
            </a:r>
          </a:p>
          <a:p>
            <a:r>
              <a:rPr lang="en-US" dirty="0"/>
              <a:t>The bar plot shows the distribution of the target variable "Churn". It appears that there is a class imbalance, with more customers not churning (1749) than those who are churning (811).</a:t>
            </a:r>
          </a:p>
          <a:p>
            <a:r>
              <a:rPr lang="en-US" dirty="0"/>
              <a:t>The class imbalance ratio was 2.157</a:t>
            </a:r>
          </a:p>
        </p:txBody>
      </p:sp>
    </p:spTree>
    <p:extLst>
      <p:ext uri="{BB962C8B-B14F-4D97-AF65-F5344CB8AC3E}">
        <p14:creationId xmlns:p14="http://schemas.microsoft.com/office/powerpoint/2010/main" val="12594629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8F0EB-57EA-F96E-C5D5-F8992A49700D}"/>
              </a:ext>
            </a:extLst>
          </p:cNvPr>
          <p:cNvSpPr>
            <a:spLocks noGrp="1"/>
          </p:cNvSpPr>
          <p:nvPr>
            <p:ph type="title"/>
          </p:nvPr>
        </p:nvSpPr>
        <p:spPr/>
        <p:txBody>
          <a:bodyPr/>
          <a:lstStyle/>
          <a:p>
            <a:r>
              <a:rPr lang="en-US" dirty="0"/>
              <a:t>Task 2 : Data Preprocessing</a:t>
            </a:r>
          </a:p>
        </p:txBody>
      </p:sp>
      <p:sp>
        <p:nvSpPr>
          <p:cNvPr id="3" name="Content Placeholder 2">
            <a:extLst>
              <a:ext uri="{FF2B5EF4-FFF2-40B4-BE49-F238E27FC236}">
                <a16:creationId xmlns:a16="http://schemas.microsoft.com/office/drawing/2014/main" id="{9F2E4168-35C5-0883-7653-27C88D78EAD1}"/>
              </a:ext>
            </a:extLst>
          </p:cNvPr>
          <p:cNvSpPr>
            <a:spLocks noGrp="1"/>
          </p:cNvSpPr>
          <p:nvPr>
            <p:ph idx="1"/>
          </p:nvPr>
        </p:nvSpPr>
        <p:spPr/>
        <p:txBody>
          <a:bodyPr/>
          <a:lstStyle/>
          <a:p>
            <a:r>
              <a:rPr lang="en-US" dirty="0"/>
              <a:t>The target variable “churn” was converted to a factor with levels ‘no’ and  ‘yes’.</a:t>
            </a:r>
          </a:p>
          <a:p>
            <a:r>
              <a:rPr lang="en-US" dirty="0"/>
              <a:t>The following categorical variables were converted to factors : "Gender","ContractType","PaymentMethod","InternetService","TechSupport","OnlineSecurity","LoyaltyProgram","StreamingTV","StreamingMovies“.</a:t>
            </a:r>
          </a:p>
        </p:txBody>
      </p:sp>
    </p:spTree>
    <p:extLst>
      <p:ext uri="{BB962C8B-B14F-4D97-AF65-F5344CB8AC3E}">
        <p14:creationId xmlns:p14="http://schemas.microsoft.com/office/powerpoint/2010/main" val="5403184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D27CAA-5F7A-73C7-BB44-23E1E8E0B062}"/>
              </a:ext>
            </a:extLst>
          </p:cNvPr>
          <p:cNvSpPr>
            <a:spLocks noGrp="1"/>
          </p:cNvSpPr>
          <p:nvPr>
            <p:ph type="title"/>
          </p:nvPr>
        </p:nvSpPr>
        <p:spPr/>
        <p:txBody>
          <a:bodyPr/>
          <a:lstStyle/>
          <a:p>
            <a:r>
              <a:rPr lang="en-US" dirty="0"/>
              <a:t>Task 3 : Data Partitioning</a:t>
            </a:r>
          </a:p>
        </p:txBody>
      </p:sp>
      <p:sp>
        <p:nvSpPr>
          <p:cNvPr id="3" name="Content Placeholder 2">
            <a:extLst>
              <a:ext uri="{FF2B5EF4-FFF2-40B4-BE49-F238E27FC236}">
                <a16:creationId xmlns:a16="http://schemas.microsoft.com/office/drawing/2014/main" id="{9A6EBB89-B2CC-E8E4-CBD4-D3F0297FE279}"/>
              </a:ext>
            </a:extLst>
          </p:cNvPr>
          <p:cNvSpPr>
            <a:spLocks noGrp="1"/>
          </p:cNvSpPr>
          <p:nvPr>
            <p:ph idx="1"/>
          </p:nvPr>
        </p:nvSpPr>
        <p:spPr/>
        <p:txBody>
          <a:bodyPr>
            <a:normAutofit/>
          </a:bodyPr>
          <a:lstStyle/>
          <a:p>
            <a:r>
              <a:rPr lang="en-US" dirty="0"/>
              <a:t>The seed was set to 2026 for reproducibility</a:t>
            </a:r>
          </a:p>
          <a:p>
            <a:r>
              <a:rPr lang="en-US" dirty="0"/>
              <a:t> Split the data into 70% training and 30% testing using stratified sampling (to pre-serve </a:t>
            </a:r>
            <a:r>
              <a:rPr lang="en-US" dirty="0" err="1"/>
              <a:t>clas</a:t>
            </a:r>
            <a:r>
              <a:rPr lang="en-US" dirty="0"/>
              <a:t> balance)</a:t>
            </a:r>
          </a:p>
          <a:p>
            <a:r>
              <a:rPr lang="en-US" dirty="0"/>
              <a:t>The train data had 1793 observations while the test data had 767 observations.</a:t>
            </a:r>
          </a:p>
          <a:p>
            <a:r>
              <a:rPr lang="en-US" dirty="0"/>
              <a:t>Stratified sampling was used to preserve class distribution.</a:t>
            </a:r>
          </a:p>
          <a:p>
            <a:r>
              <a:rPr lang="en-US" dirty="0"/>
              <a:t>Scaling was then done : Numeric variables were standardized using mean-centering and scaling (mean = 0, standard deviation = 1) using the </a:t>
            </a:r>
            <a:r>
              <a:rPr lang="en-US" dirty="0" err="1"/>
              <a:t>preProcess</a:t>
            </a:r>
            <a:r>
              <a:rPr lang="en-US" dirty="0"/>
              <a:t>() function.</a:t>
            </a:r>
          </a:p>
          <a:p>
            <a:r>
              <a:rPr lang="en-US" dirty="0"/>
              <a:t>This step is essential for distance-based models such as KNN and margin-based models like SVM, which are sensitive to variable scale</a:t>
            </a:r>
          </a:p>
        </p:txBody>
      </p:sp>
    </p:spTree>
    <p:extLst>
      <p:ext uri="{BB962C8B-B14F-4D97-AF65-F5344CB8AC3E}">
        <p14:creationId xmlns:p14="http://schemas.microsoft.com/office/powerpoint/2010/main" val="26966982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507B6-ABAB-303E-447A-0ED9AA3CE820}"/>
              </a:ext>
            </a:extLst>
          </p:cNvPr>
          <p:cNvSpPr>
            <a:spLocks noGrp="1"/>
          </p:cNvSpPr>
          <p:nvPr>
            <p:ph type="title"/>
          </p:nvPr>
        </p:nvSpPr>
        <p:spPr/>
        <p:txBody>
          <a:bodyPr/>
          <a:lstStyle/>
          <a:p>
            <a:r>
              <a:rPr lang="en-US" dirty="0"/>
              <a:t>Task 4 :Train Control Scheme</a:t>
            </a:r>
          </a:p>
        </p:txBody>
      </p:sp>
      <p:sp>
        <p:nvSpPr>
          <p:cNvPr id="3" name="Content Placeholder 2">
            <a:extLst>
              <a:ext uri="{FF2B5EF4-FFF2-40B4-BE49-F238E27FC236}">
                <a16:creationId xmlns:a16="http://schemas.microsoft.com/office/drawing/2014/main" id="{5E4254D9-48FE-A81B-69BB-463BB80C3323}"/>
              </a:ext>
            </a:extLst>
          </p:cNvPr>
          <p:cNvSpPr>
            <a:spLocks noGrp="1"/>
          </p:cNvSpPr>
          <p:nvPr>
            <p:ph idx="1"/>
          </p:nvPr>
        </p:nvSpPr>
        <p:spPr/>
        <p:txBody>
          <a:bodyPr/>
          <a:lstStyle/>
          <a:p>
            <a:r>
              <a:rPr lang="en-US" dirty="0"/>
              <a:t>A </a:t>
            </a:r>
            <a:r>
              <a:rPr lang="en-US" dirty="0" err="1"/>
              <a:t>trainControl</a:t>
            </a:r>
            <a:r>
              <a:rPr lang="en-US" dirty="0"/>
              <a:t> scheme was defined using 10-fold cross-validation to improve model evaluation reliability.</a:t>
            </a:r>
          </a:p>
          <a:p>
            <a:r>
              <a:rPr lang="en-US" dirty="0"/>
              <a:t>Cross-validation is used to evaluate model performance in a more reliable and robust manner. Instead of relying on a single train-test split, the data is divided into multiple folds, and the model is trained and validated across different </a:t>
            </a:r>
            <a:r>
              <a:rPr lang="en-US" dirty="0" err="1"/>
              <a:t>subsets.This</a:t>
            </a:r>
            <a:r>
              <a:rPr lang="en-US" dirty="0"/>
              <a:t> reduces the risk of overfitting and ensures that the model generalizes well to unseen data.</a:t>
            </a:r>
          </a:p>
          <a:p>
            <a:endParaRPr lang="en-US" dirty="0"/>
          </a:p>
        </p:txBody>
      </p:sp>
    </p:spTree>
    <p:extLst>
      <p:ext uri="{BB962C8B-B14F-4D97-AF65-F5344CB8AC3E}">
        <p14:creationId xmlns:p14="http://schemas.microsoft.com/office/powerpoint/2010/main" val="8601121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A6D0FF-8781-A97C-BCB2-8B0DE632D9D7}"/>
              </a:ext>
            </a:extLst>
          </p:cNvPr>
          <p:cNvSpPr>
            <a:spLocks noGrp="1"/>
          </p:cNvSpPr>
          <p:nvPr>
            <p:ph type="title"/>
          </p:nvPr>
        </p:nvSpPr>
        <p:spPr/>
        <p:txBody>
          <a:bodyPr/>
          <a:lstStyle/>
          <a:p>
            <a:r>
              <a:rPr lang="en-US" dirty="0"/>
              <a:t>Task 5 : Model Training – Logistic Regression</a:t>
            </a:r>
          </a:p>
        </p:txBody>
      </p:sp>
      <p:sp>
        <p:nvSpPr>
          <p:cNvPr id="3" name="Content Placeholder 2">
            <a:extLst>
              <a:ext uri="{FF2B5EF4-FFF2-40B4-BE49-F238E27FC236}">
                <a16:creationId xmlns:a16="http://schemas.microsoft.com/office/drawing/2014/main" id="{BDB6F0B7-634D-9142-D655-AC78E1E29833}"/>
              </a:ext>
            </a:extLst>
          </p:cNvPr>
          <p:cNvSpPr>
            <a:spLocks noGrp="1"/>
          </p:cNvSpPr>
          <p:nvPr>
            <p:ph idx="1"/>
          </p:nvPr>
        </p:nvSpPr>
        <p:spPr>
          <a:xfrm>
            <a:off x="838200" y="1825625"/>
            <a:ext cx="10515600" cy="4431740"/>
          </a:xfrm>
        </p:spPr>
        <p:txBody>
          <a:bodyPr>
            <a:normAutofit/>
          </a:bodyPr>
          <a:lstStyle/>
          <a:p>
            <a:r>
              <a:rPr lang="en-US" dirty="0"/>
              <a:t>A logistic regression model was trained using 10-fold cross –validation using method “</a:t>
            </a:r>
            <a:r>
              <a:rPr lang="en-US" dirty="0" err="1"/>
              <a:t>glm</a:t>
            </a:r>
            <a:r>
              <a:rPr lang="en-US" dirty="0"/>
              <a:t>”.</a:t>
            </a:r>
          </a:p>
          <a:p>
            <a:r>
              <a:rPr lang="en-US" dirty="0"/>
              <a:t>The Odds ratios were then calculated using </a:t>
            </a:r>
            <a:r>
              <a:rPr lang="en-US" dirty="0" err="1"/>
              <a:t>tab_model</a:t>
            </a:r>
            <a:r>
              <a:rPr lang="en-US" dirty="0"/>
              <a:t> function.</a:t>
            </a:r>
          </a:p>
          <a:p>
            <a:r>
              <a:rPr lang="en-US" dirty="0"/>
              <a:t>From the results , The most significant predictors of churn risk were : </a:t>
            </a:r>
            <a:r>
              <a:rPr lang="en-US" dirty="0" err="1"/>
              <a:t>Paymentmethod</a:t>
            </a:r>
            <a:r>
              <a:rPr lang="en-US" dirty="0"/>
              <a:t> by </a:t>
            </a:r>
            <a:r>
              <a:rPr lang="en-US" dirty="0" err="1"/>
              <a:t>Electroniccheck</a:t>
            </a:r>
            <a:r>
              <a:rPr lang="en-US" dirty="0"/>
              <a:t>, </a:t>
            </a:r>
            <a:r>
              <a:rPr lang="en-US" dirty="0" err="1"/>
              <a:t>Intenet</a:t>
            </a:r>
            <a:r>
              <a:rPr lang="en-US" dirty="0"/>
              <a:t> Service fiber </a:t>
            </a:r>
            <a:r>
              <a:rPr lang="en-US" dirty="0" err="1"/>
              <a:t>Optic,TechSupport</a:t>
            </a:r>
            <a:r>
              <a:rPr lang="en-US" dirty="0"/>
              <a:t> yes.</a:t>
            </a:r>
          </a:p>
        </p:txBody>
      </p:sp>
    </p:spTree>
    <p:extLst>
      <p:ext uri="{BB962C8B-B14F-4D97-AF65-F5344CB8AC3E}">
        <p14:creationId xmlns:p14="http://schemas.microsoft.com/office/powerpoint/2010/main" val="34851390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8E312-A261-E91A-4FCE-0E2E263C0D94}"/>
              </a:ext>
            </a:extLst>
          </p:cNvPr>
          <p:cNvSpPr>
            <a:spLocks noGrp="1"/>
          </p:cNvSpPr>
          <p:nvPr>
            <p:ph type="title"/>
          </p:nvPr>
        </p:nvSpPr>
        <p:spPr/>
        <p:txBody>
          <a:bodyPr>
            <a:normAutofit fontScale="90000"/>
          </a:bodyPr>
          <a:lstStyle/>
          <a:p>
            <a:r>
              <a:rPr lang="en-US" dirty="0"/>
              <a:t>Interpretation of the odd ratios of the above  predictors of churn</a:t>
            </a:r>
            <a:br>
              <a:rPr lang="en-US" dirty="0"/>
            </a:br>
            <a:endParaRPr lang="en-US" dirty="0"/>
          </a:p>
        </p:txBody>
      </p:sp>
      <p:sp>
        <p:nvSpPr>
          <p:cNvPr id="3" name="Content Placeholder 2">
            <a:extLst>
              <a:ext uri="{FF2B5EF4-FFF2-40B4-BE49-F238E27FC236}">
                <a16:creationId xmlns:a16="http://schemas.microsoft.com/office/drawing/2014/main" id="{0F9509CF-B1C6-14C5-F853-8CFC787F26C1}"/>
              </a:ext>
            </a:extLst>
          </p:cNvPr>
          <p:cNvSpPr>
            <a:spLocks noGrp="1"/>
          </p:cNvSpPr>
          <p:nvPr>
            <p:ph idx="1"/>
          </p:nvPr>
        </p:nvSpPr>
        <p:spPr/>
        <p:txBody>
          <a:bodyPr/>
          <a:lstStyle/>
          <a:p>
            <a:r>
              <a:rPr lang="en-US" dirty="0" err="1"/>
              <a:t>PaymentMethodElectronic</a:t>
            </a:r>
            <a:r>
              <a:rPr lang="en-US" dirty="0"/>
              <a:t> Check(1.33) :  Customers who pay by electronic check are 1.33 times more likely to churn than those who pay by bank transfer.</a:t>
            </a:r>
          </a:p>
          <a:p>
            <a:r>
              <a:rPr lang="en-US" dirty="0"/>
              <a:t>Internet Service Fiberoptic(1.31) : customers who use fiber optic internet service are 1.31 times more likely to churn compared to those who use DSL, holding all other variables constant.</a:t>
            </a:r>
          </a:p>
          <a:p>
            <a:r>
              <a:rPr lang="en-US" dirty="0"/>
              <a:t>Tech </a:t>
            </a:r>
            <a:r>
              <a:rPr lang="en-US" dirty="0" err="1"/>
              <a:t>SupportYes</a:t>
            </a:r>
            <a:r>
              <a:rPr lang="en-US" dirty="0"/>
              <a:t>(1.14) : customers who receive </a:t>
            </a:r>
            <a:r>
              <a:rPr lang="en-US" dirty="0" err="1"/>
              <a:t>techsupport</a:t>
            </a:r>
            <a:r>
              <a:rPr lang="en-US" dirty="0"/>
              <a:t> are 1.14 times more likely to churn than those who do not receive </a:t>
            </a:r>
            <a:r>
              <a:rPr lang="en-US" dirty="0" err="1"/>
              <a:t>techsupport</a:t>
            </a:r>
            <a:r>
              <a:rPr lang="en-US" dirty="0"/>
              <a:t>, holding all other variables constant.</a:t>
            </a:r>
          </a:p>
          <a:p>
            <a:endParaRPr lang="en-US" dirty="0"/>
          </a:p>
          <a:p>
            <a:endParaRPr lang="en-US" dirty="0"/>
          </a:p>
          <a:p>
            <a:endParaRPr lang="en-US" dirty="0"/>
          </a:p>
        </p:txBody>
      </p:sp>
    </p:spTree>
    <p:extLst>
      <p:ext uri="{BB962C8B-B14F-4D97-AF65-F5344CB8AC3E}">
        <p14:creationId xmlns:p14="http://schemas.microsoft.com/office/powerpoint/2010/main" val="33647101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6F3D6-264F-F7A7-0755-B4053EA7EF94}"/>
              </a:ext>
            </a:extLst>
          </p:cNvPr>
          <p:cNvSpPr>
            <a:spLocks noGrp="1"/>
          </p:cNvSpPr>
          <p:nvPr>
            <p:ph type="title"/>
          </p:nvPr>
        </p:nvSpPr>
        <p:spPr/>
        <p:txBody>
          <a:bodyPr/>
          <a:lstStyle/>
          <a:p>
            <a:r>
              <a:rPr lang="en-US" dirty="0"/>
              <a:t>Task 6 : Model Training - KNN</a:t>
            </a:r>
          </a:p>
        </p:txBody>
      </p:sp>
      <p:sp>
        <p:nvSpPr>
          <p:cNvPr id="3" name="Content Placeholder 2">
            <a:extLst>
              <a:ext uri="{FF2B5EF4-FFF2-40B4-BE49-F238E27FC236}">
                <a16:creationId xmlns:a16="http://schemas.microsoft.com/office/drawing/2014/main" id="{38B9B5B5-6C60-3BED-1DBD-CD0687B0A822}"/>
              </a:ext>
            </a:extLst>
          </p:cNvPr>
          <p:cNvSpPr>
            <a:spLocks noGrp="1"/>
          </p:cNvSpPr>
          <p:nvPr>
            <p:ph idx="1"/>
          </p:nvPr>
        </p:nvSpPr>
        <p:spPr/>
        <p:txBody>
          <a:bodyPr>
            <a:normAutofit/>
          </a:bodyPr>
          <a:lstStyle/>
          <a:p>
            <a:r>
              <a:rPr lang="en-US" dirty="0"/>
              <a:t>A </a:t>
            </a:r>
            <a:r>
              <a:rPr lang="en-US" dirty="0" err="1"/>
              <a:t>knn</a:t>
            </a:r>
            <a:r>
              <a:rPr lang="en-US" dirty="0"/>
              <a:t> model was trained using the scaled data using method “</a:t>
            </a:r>
            <a:r>
              <a:rPr lang="en-US" dirty="0" err="1"/>
              <a:t>knn</a:t>
            </a:r>
            <a:r>
              <a:rPr lang="en-US" dirty="0"/>
              <a:t>”.</a:t>
            </a:r>
          </a:p>
          <a:p>
            <a:r>
              <a:rPr lang="en-US" dirty="0"/>
              <a:t>A plot of accuracy vs K was also plotted.</a:t>
            </a:r>
          </a:p>
          <a:p>
            <a:r>
              <a:rPr lang="en-US" dirty="0"/>
              <a:t>The KNN model was tuned using odd values of k from 1 to 21. The optimal value selected through cross-validation was </a:t>
            </a:r>
            <a:r>
              <a:rPr lang="en-US" b="1" dirty="0"/>
              <a:t>k = 21</a:t>
            </a:r>
            <a:r>
              <a:rPr lang="en-US" dirty="0"/>
              <a:t>, which achieved the highest ROC value of approximately </a:t>
            </a:r>
            <a:r>
              <a:rPr lang="en-US" b="1" dirty="0"/>
              <a:t>0.83</a:t>
            </a:r>
            <a:r>
              <a:rPr lang="en-US" dirty="0"/>
              <a:t>.</a:t>
            </a:r>
            <a:br>
              <a:rPr lang="en-US" dirty="0"/>
            </a:br>
            <a:r>
              <a:rPr lang="en-US" dirty="0"/>
              <a:t>The performance improved as k increased, indicating that smaller values of k led to overfitting, while larger values provided better generalization by smoothing the decision boundary.</a:t>
            </a:r>
            <a:br>
              <a:rPr lang="en-US" dirty="0"/>
            </a:br>
            <a:r>
              <a:rPr lang="en-US" dirty="0"/>
              <a:t>Therefore, k = 21 was chosen as it offers the best balance between bias and variance.</a:t>
            </a:r>
          </a:p>
          <a:p>
            <a:endParaRPr lang="en-US" dirty="0"/>
          </a:p>
        </p:txBody>
      </p:sp>
    </p:spTree>
    <p:extLst>
      <p:ext uri="{BB962C8B-B14F-4D97-AF65-F5344CB8AC3E}">
        <p14:creationId xmlns:p14="http://schemas.microsoft.com/office/powerpoint/2010/main" val="639902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8A2F5-44C4-CC63-E807-60221DB166D3}"/>
              </a:ext>
            </a:extLst>
          </p:cNvPr>
          <p:cNvSpPr>
            <a:spLocks noGrp="1"/>
          </p:cNvSpPr>
          <p:nvPr>
            <p:ph type="title"/>
          </p:nvPr>
        </p:nvSpPr>
        <p:spPr/>
        <p:txBody>
          <a:bodyPr/>
          <a:lstStyle/>
          <a:p>
            <a:r>
              <a:rPr lang="en-US" dirty="0"/>
              <a:t>Task 7 : Model Training - SVM</a:t>
            </a:r>
          </a:p>
        </p:txBody>
      </p:sp>
      <p:sp>
        <p:nvSpPr>
          <p:cNvPr id="3" name="Content Placeholder 2">
            <a:extLst>
              <a:ext uri="{FF2B5EF4-FFF2-40B4-BE49-F238E27FC236}">
                <a16:creationId xmlns:a16="http://schemas.microsoft.com/office/drawing/2014/main" id="{13427101-450D-E3DD-D3BD-E702BD4CEF33}"/>
              </a:ext>
            </a:extLst>
          </p:cNvPr>
          <p:cNvSpPr>
            <a:spLocks noGrp="1"/>
          </p:cNvSpPr>
          <p:nvPr>
            <p:ph idx="1"/>
          </p:nvPr>
        </p:nvSpPr>
        <p:spPr/>
        <p:txBody>
          <a:bodyPr>
            <a:normAutofit fontScale="92500" lnSpcReduction="10000"/>
          </a:bodyPr>
          <a:lstStyle/>
          <a:p>
            <a:r>
              <a:rPr lang="en-US" dirty="0"/>
              <a:t>A SVM model was also trained using the scaled data using method “</a:t>
            </a:r>
            <a:r>
              <a:rPr lang="en-US" dirty="0" err="1"/>
              <a:t>svmRadial</a:t>
            </a:r>
            <a:r>
              <a:rPr lang="en-US" dirty="0"/>
              <a:t>”.</a:t>
            </a:r>
          </a:p>
          <a:p>
            <a:r>
              <a:rPr lang="en-US" dirty="0"/>
              <a:t> The kernel function in SVM transforms the data into a higher-dimensional space to make it easier to separate classes.</a:t>
            </a:r>
            <a:br>
              <a:rPr lang="en-US" dirty="0"/>
            </a:br>
            <a:r>
              <a:rPr lang="en-US" dirty="0"/>
              <a:t>The radial basis function (RBF) kernel allows the model to capture non-linear relationships between predictors and the target variable.</a:t>
            </a:r>
          </a:p>
          <a:p>
            <a:r>
              <a:rPr lang="en-US" dirty="0"/>
              <a:t>Report : The SVM model was trained using a radial basis function (RBF) kernel, with hyperparameters tuned over a grid of C and sigma values. The optimal parameters selected were </a:t>
            </a:r>
            <a:r>
              <a:rPr lang="en-US" b="1" dirty="0"/>
              <a:t>C = 1</a:t>
            </a:r>
            <a:r>
              <a:rPr lang="en-US" dirty="0"/>
              <a:t> and </a:t>
            </a:r>
            <a:r>
              <a:rPr lang="en-US" b="1" dirty="0"/>
              <a:t>sigma = 0.01</a:t>
            </a:r>
            <a:r>
              <a:rPr lang="en-US" dirty="0"/>
              <a:t>, which achieved the highest ROC value of approximately </a:t>
            </a:r>
            <a:r>
              <a:rPr lang="en-US" b="1" dirty="0"/>
              <a:t>0.87</a:t>
            </a:r>
            <a:r>
              <a:rPr lang="en-US" dirty="0"/>
              <a:t>.</a:t>
            </a:r>
            <a:br>
              <a:rPr lang="en-US" dirty="0"/>
            </a:br>
            <a:r>
              <a:rPr lang="en-US" dirty="0"/>
              <a:t>The results indicate that smaller sigma values produced better performance, suggesting that a smoother decision boundary improves generalization. The effect of C on performance was minimal, indicating stability of the model across different regularization strengths.</a:t>
            </a:r>
          </a:p>
          <a:p>
            <a:endParaRPr lang="en-US" dirty="0"/>
          </a:p>
        </p:txBody>
      </p:sp>
    </p:spTree>
    <p:extLst>
      <p:ext uri="{BB962C8B-B14F-4D97-AF65-F5344CB8AC3E}">
        <p14:creationId xmlns:p14="http://schemas.microsoft.com/office/powerpoint/2010/main" val="22286665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19667-8DA4-C7AC-E774-A3715A0C45C2}"/>
              </a:ext>
            </a:extLst>
          </p:cNvPr>
          <p:cNvSpPr>
            <a:spLocks noGrp="1"/>
          </p:cNvSpPr>
          <p:nvPr>
            <p:ph type="title"/>
          </p:nvPr>
        </p:nvSpPr>
        <p:spPr/>
        <p:txBody>
          <a:bodyPr/>
          <a:lstStyle/>
          <a:p>
            <a:r>
              <a:rPr lang="en-US" dirty="0"/>
              <a:t>Task 8 : Model Training : </a:t>
            </a:r>
            <a:r>
              <a:rPr lang="en-US" dirty="0" err="1"/>
              <a:t>RandomForest</a:t>
            </a:r>
            <a:endParaRPr lang="en-US" dirty="0"/>
          </a:p>
        </p:txBody>
      </p:sp>
      <p:sp>
        <p:nvSpPr>
          <p:cNvPr id="3" name="Content Placeholder 2">
            <a:extLst>
              <a:ext uri="{FF2B5EF4-FFF2-40B4-BE49-F238E27FC236}">
                <a16:creationId xmlns:a16="http://schemas.microsoft.com/office/drawing/2014/main" id="{8AD0CDC3-15BD-A82F-ABF3-8D6D7DCEF36B}"/>
              </a:ext>
            </a:extLst>
          </p:cNvPr>
          <p:cNvSpPr>
            <a:spLocks noGrp="1"/>
          </p:cNvSpPr>
          <p:nvPr>
            <p:ph idx="1"/>
          </p:nvPr>
        </p:nvSpPr>
        <p:spPr/>
        <p:txBody>
          <a:bodyPr/>
          <a:lstStyle/>
          <a:p>
            <a:r>
              <a:rPr lang="en-US" dirty="0"/>
              <a:t>A Random forest model was trained using method ”rf”.</a:t>
            </a:r>
          </a:p>
          <a:p>
            <a:r>
              <a:rPr lang="en-US" dirty="0"/>
              <a:t>The Random Forest model was trained with 500 trees and tuned using different values of </a:t>
            </a:r>
            <a:r>
              <a:rPr lang="en-US" dirty="0" err="1"/>
              <a:t>mtry</a:t>
            </a:r>
            <a:r>
              <a:rPr lang="en-US" dirty="0"/>
              <a:t>. The optimal value selected was </a:t>
            </a:r>
            <a:r>
              <a:rPr lang="en-US" b="1" dirty="0" err="1"/>
              <a:t>mtry</a:t>
            </a:r>
            <a:r>
              <a:rPr lang="en-US" b="1" dirty="0"/>
              <a:t> = 4</a:t>
            </a:r>
            <a:r>
              <a:rPr lang="en-US" dirty="0"/>
              <a:t>, indicating that using a smaller subset of predictors at each split improves model performance by increasing diversity among trees.</a:t>
            </a:r>
          </a:p>
          <a:p>
            <a:r>
              <a:rPr lang="en-US" dirty="0"/>
              <a:t>A plot of variable importance was also done and the top 5 most important  predictors for Churn were : Monthly charges, Satisfaction score, Tenure months, Total charges, </a:t>
            </a:r>
            <a:r>
              <a:rPr lang="en-US" dirty="0" err="1"/>
              <a:t>CustomerID</a:t>
            </a:r>
            <a:endParaRPr lang="en-US" dirty="0"/>
          </a:p>
        </p:txBody>
      </p:sp>
    </p:spTree>
    <p:extLst>
      <p:ext uri="{BB962C8B-B14F-4D97-AF65-F5344CB8AC3E}">
        <p14:creationId xmlns:p14="http://schemas.microsoft.com/office/powerpoint/2010/main" val="2575419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C4216-01F4-87AB-5C7B-3BB1CB356313}"/>
              </a:ext>
            </a:extLst>
          </p:cNvPr>
          <p:cNvSpPr>
            <a:spLocks noGrp="1"/>
          </p:cNvSpPr>
          <p:nvPr>
            <p:ph type="title"/>
          </p:nvPr>
        </p:nvSpPr>
        <p:spPr/>
        <p:txBody>
          <a:bodyPr/>
          <a:lstStyle/>
          <a:p>
            <a:r>
              <a:rPr lang="en-US" dirty="0"/>
              <a:t>Task 9 : Model Evaluation and Comparison</a:t>
            </a:r>
          </a:p>
        </p:txBody>
      </p:sp>
      <p:sp>
        <p:nvSpPr>
          <p:cNvPr id="3" name="Content Placeholder 2">
            <a:extLst>
              <a:ext uri="{FF2B5EF4-FFF2-40B4-BE49-F238E27FC236}">
                <a16:creationId xmlns:a16="http://schemas.microsoft.com/office/drawing/2014/main" id="{E5FA0BEC-F635-4245-4B19-8DC95E6C63C7}"/>
              </a:ext>
            </a:extLst>
          </p:cNvPr>
          <p:cNvSpPr>
            <a:spLocks noGrp="1"/>
          </p:cNvSpPr>
          <p:nvPr>
            <p:ph idx="1"/>
          </p:nvPr>
        </p:nvSpPr>
        <p:spPr/>
        <p:txBody>
          <a:bodyPr/>
          <a:lstStyle/>
          <a:p>
            <a:r>
              <a:rPr lang="en-US" dirty="0" err="1"/>
              <a:t>Predicitions</a:t>
            </a:r>
            <a:r>
              <a:rPr lang="en-US" dirty="0"/>
              <a:t> of class and probabilities on the test </a:t>
            </a:r>
            <a:r>
              <a:rPr lang="en-US" dirty="0" err="1"/>
              <a:t>test</a:t>
            </a:r>
            <a:r>
              <a:rPr lang="en-US" dirty="0"/>
              <a:t> were done for all the 4 models and then confusion matrices were generated for each plot.</a:t>
            </a:r>
          </a:p>
          <a:p>
            <a:endParaRPr lang="en-US" dirty="0"/>
          </a:p>
        </p:txBody>
      </p:sp>
    </p:spTree>
    <p:extLst>
      <p:ext uri="{BB962C8B-B14F-4D97-AF65-F5344CB8AC3E}">
        <p14:creationId xmlns:p14="http://schemas.microsoft.com/office/powerpoint/2010/main" val="1225772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D7AB6-7B60-273E-16F0-5454997E37B8}"/>
              </a:ext>
            </a:extLst>
          </p:cNvPr>
          <p:cNvSpPr>
            <a:spLocks noGrp="1"/>
          </p:cNvSpPr>
          <p:nvPr>
            <p:ph type="title"/>
          </p:nvPr>
        </p:nvSpPr>
        <p:spPr/>
        <p:txBody>
          <a:bodyPr/>
          <a:lstStyle/>
          <a:p>
            <a:r>
              <a:rPr lang="en-US" dirty="0"/>
              <a:t>Logistic Regression Model Confusion Matrix</a:t>
            </a:r>
          </a:p>
        </p:txBody>
      </p:sp>
      <p:sp>
        <p:nvSpPr>
          <p:cNvPr id="3" name="Content Placeholder 2">
            <a:extLst>
              <a:ext uri="{FF2B5EF4-FFF2-40B4-BE49-F238E27FC236}">
                <a16:creationId xmlns:a16="http://schemas.microsoft.com/office/drawing/2014/main" id="{5B067570-C656-2913-6A37-D97E008C79FE}"/>
              </a:ext>
            </a:extLst>
          </p:cNvPr>
          <p:cNvSpPr>
            <a:spLocks noGrp="1"/>
          </p:cNvSpPr>
          <p:nvPr>
            <p:ph idx="1"/>
          </p:nvPr>
        </p:nvSpPr>
        <p:spPr/>
        <p:txBody>
          <a:bodyPr>
            <a:normAutofit fontScale="77500" lnSpcReduction="20000"/>
          </a:bodyPr>
          <a:lstStyle/>
          <a:p>
            <a:endParaRPr lang="en-US" dirty="0"/>
          </a:p>
          <a:p>
            <a:r>
              <a:rPr lang="en-US" b="1" dirty="0"/>
              <a:t>457 (True Negatives)</a:t>
            </a:r>
            <a:r>
              <a:rPr lang="en-US" dirty="0"/>
              <a:t> - Correctly predicted “No churn”</a:t>
            </a:r>
          </a:p>
          <a:p>
            <a:r>
              <a:rPr lang="en-US" altLang="en-US" b="1" dirty="0">
                <a:latin typeface="Arial" panose="020B0604020202020204" pitchFamily="34" charset="0"/>
              </a:rPr>
              <a:t>156 (True Positives)</a:t>
            </a:r>
            <a:r>
              <a:rPr lang="en-US" altLang="en-US" dirty="0">
                <a:latin typeface="Arial" panose="020B0604020202020204" pitchFamily="34" charset="0"/>
              </a:rPr>
              <a:t> - Correctly predicted “Yes churn” </a:t>
            </a:r>
          </a:p>
          <a:p>
            <a:r>
              <a:rPr lang="en-US" altLang="en-US" b="1" dirty="0">
                <a:latin typeface="Arial" panose="020B0604020202020204" pitchFamily="34" charset="0"/>
              </a:rPr>
              <a:t>87 (False Negatives)</a:t>
            </a:r>
            <a:r>
              <a:rPr lang="en-US" altLang="en-US" dirty="0">
                <a:latin typeface="Arial" panose="020B0604020202020204" pitchFamily="34" charset="0"/>
              </a:rPr>
              <a:t> - Missed churners (predicted No but actually Yes)</a:t>
            </a:r>
          </a:p>
          <a:p>
            <a:r>
              <a:rPr lang="en-US" b="1" dirty="0"/>
              <a:t>67 (False Positives)</a:t>
            </a:r>
            <a:r>
              <a:rPr lang="en-US" dirty="0"/>
              <a:t> → Wrongly flagged churn (predicted Yes but actually No)</a:t>
            </a:r>
          </a:p>
          <a:p>
            <a:r>
              <a:rPr lang="en-US" dirty="0"/>
              <a:t>The Logistic Regression model achieved an accuracy of approximately </a:t>
            </a:r>
            <a:r>
              <a:rPr lang="en-US" b="1" dirty="0"/>
              <a:t>79.9%</a:t>
            </a:r>
            <a:r>
              <a:rPr lang="en-US" dirty="0"/>
              <a:t>, indicating that it correctly classified the majority of instances.</a:t>
            </a:r>
          </a:p>
          <a:p>
            <a:r>
              <a:rPr lang="en-US" dirty="0"/>
              <a:t> The model showed a </a:t>
            </a:r>
            <a:r>
              <a:rPr lang="en-US" b="1" dirty="0"/>
              <a:t>high specificity (87.2%)</a:t>
            </a:r>
            <a:r>
              <a:rPr lang="en-US" dirty="0"/>
              <a:t>, meaning it was very effective at identifying non-churn customers.</a:t>
            </a:r>
          </a:p>
          <a:p>
            <a:r>
              <a:rPr lang="en-US" dirty="0"/>
              <a:t> However, its </a:t>
            </a:r>
            <a:r>
              <a:rPr lang="en-US" b="1" dirty="0"/>
              <a:t>sensitivity (64.2%)</a:t>
            </a:r>
            <a:r>
              <a:rPr lang="en-US" dirty="0"/>
              <a:t> was moderate, suggesting that it missed a noticeable proportion of actual churners.</a:t>
            </a:r>
          </a:p>
          <a:p>
            <a:r>
              <a:rPr lang="en-US" dirty="0"/>
              <a:t>The model also recorded a </a:t>
            </a:r>
            <a:r>
              <a:rPr lang="en-US" b="1" dirty="0"/>
              <a:t>balanced accuracy of 75.7%</a:t>
            </a:r>
            <a:r>
              <a:rPr lang="en-US" dirty="0"/>
              <a:t> and a </a:t>
            </a:r>
            <a:r>
              <a:rPr lang="en-US" b="1" dirty="0"/>
              <a:t>Kappa statistic of 0.526</a:t>
            </a:r>
            <a:r>
              <a:rPr lang="en-US" dirty="0"/>
              <a:t>, indicating moderate agreement between predicted and actual values.</a:t>
            </a:r>
          </a:p>
          <a:p>
            <a:r>
              <a:rPr lang="en-US" dirty="0"/>
              <a:t>The model recorded an </a:t>
            </a:r>
            <a:r>
              <a:rPr lang="en-US" b="1" dirty="0"/>
              <a:t>F1-score of approximately 0.67</a:t>
            </a:r>
            <a:r>
              <a:rPr lang="en-US" dirty="0"/>
              <a:t>, reflecting a reasonable balance between precision and recall for the positive class (churn). </a:t>
            </a:r>
          </a:p>
          <a:p>
            <a:endParaRPr lang="en-US" dirty="0"/>
          </a:p>
        </p:txBody>
      </p:sp>
      <p:sp>
        <p:nvSpPr>
          <p:cNvPr id="5" name="Rectangle 2">
            <a:extLst>
              <a:ext uri="{FF2B5EF4-FFF2-40B4-BE49-F238E27FC236}">
                <a16:creationId xmlns:a16="http://schemas.microsoft.com/office/drawing/2014/main" id="{60BEE5B1-938A-74F4-4741-32929312CEDE}"/>
              </a:ext>
            </a:extLst>
          </p:cNvPr>
          <p:cNvSpPr>
            <a:spLocks noChangeArrowheads="1"/>
          </p:cNvSpPr>
          <p:nvPr/>
        </p:nvSpPr>
        <p:spPr bwMode="auto">
          <a:xfrm>
            <a:off x="923364" y="2491751"/>
            <a:ext cx="1095487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8" eaLnBrk="0" fontAlgn="base" hangingPunct="0">
              <a:spcBef>
                <a:spcPct val="0"/>
              </a:spcBef>
              <a:spcAft>
                <a:spcPct val="0"/>
              </a:spcAft>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158662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0A1722-7876-C78B-FB30-BE6354BCFC1D}"/>
              </a:ext>
            </a:extLst>
          </p:cNvPr>
          <p:cNvSpPr>
            <a:spLocks noGrp="1"/>
          </p:cNvSpPr>
          <p:nvPr>
            <p:ph type="title"/>
          </p:nvPr>
        </p:nvSpPr>
        <p:spPr/>
        <p:txBody>
          <a:bodyPr/>
          <a:lstStyle/>
          <a:p>
            <a:r>
              <a:rPr lang="en-US" dirty="0"/>
              <a:t>KNN Model – Confusion Matrix</a:t>
            </a:r>
          </a:p>
        </p:txBody>
      </p:sp>
      <p:sp>
        <p:nvSpPr>
          <p:cNvPr id="3" name="Content Placeholder 2">
            <a:extLst>
              <a:ext uri="{FF2B5EF4-FFF2-40B4-BE49-F238E27FC236}">
                <a16:creationId xmlns:a16="http://schemas.microsoft.com/office/drawing/2014/main" id="{8CD78A70-6E81-477E-7E75-23E892579453}"/>
              </a:ext>
            </a:extLst>
          </p:cNvPr>
          <p:cNvSpPr>
            <a:spLocks noGrp="1"/>
          </p:cNvSpPr>
          <p:nvPr>
            <p:ph idx="1"/>
          </p:nvPr>
        </p:nvSpPr>
        <p:spPr/>
        <p:txBody>
          <a:bodyPr>
            <a:normAutofit fontScale="77500" lnSpcReduction="20000"/>
          </a:bodyPr>
          <a:lstStyle/>
          <a:p>
            <a:r>
              <a:rPr lang="en-US" b="1" dirty="0"/>
              <a:t>468 (True Negatives)</a:t>
            </a:r>
            <a:r>
              <a:rPr lang="en-US" dirty="0"/>
              <a:t> - Correct “No churn”</a:t>
            </a:r>
          </a:p>
          <a:p>
            <a:r>
              <a:rPr lang="en-US" b="1" dirty="0"/>
              <a:t>131 (True Positives)</a:t>
            </a:r>
            <a:r>
              <a:rPr lang="en-US" dirty="0"/>
              <a:t> - Correct “Yes churn”</a:t>
            </a:r>
          </a:p>
          <a:p>
            <a:r>
              <a:rPr lang="en-US" b="1" dirty="0"/>
              <a:t>112 (False Negatives)</a:t>
            </a:r>
            <a:r>
              <a:rPr lang="en-US" dirty="0"/>
              <a:t> - Missed churners </a:t>
            </a:r>
          </a:p>
          <a:p>
            <a:r>
              <a:rPr lang="en-US" b="1" dirty="0"/>
              <a:t>56 (False Positives)</a:t>
            </a:r>
            <a:r>
              <a:rPr lang="en-US" dirty="0"/>
              <a:t> - Wrongly predicted churn</a:t>
            </a:r>
          </a:p>
          <a:p>
            <a:r>
              <a:rPr lang="en-US" dirty="0"/>
              <a:t>The KNN model achieved an accuracy of approximately </a:t>
            </a:r>
            <a:r>
              <a:rPr lang="en-US" b="1" dirty="0"/>
              <a:t>78.1%</a:t>
            </a:r>
            <a:r>
              <a:rPr lang="en-US" dirty="0"/>
              <a:t>, which is slightly lower than that of Logistic Regression.</a:t>
            </a:r>
          </a:p>
          <a:p>
            <a:r>
              <a:rPr lang="en-US" dirty="0"/>
              <a:t> It demonstrated a </a:t>
            </a:r>
            <a:r>
              <a:rPr lang="en-US" b="1" dirty="0"/>
              <a:t>high specificity (89.3%)</a:t>
            </a:r>
            <a:r>
              <a:rPr lang="en-US" dirty="0"/>
              <a:t>, meaning it performed well in identifying non-churn customers.</a:t>
            </a:r>
          </a:p>
          <a:p>
            <a:r>
              <a:rPr lang="en-US" dirty="0"/>
              <a:t> However, the model had a </a:t>
            </a:r>
            <a:r>
              <a:rPr lang="en-US" b="1" dirty="0"/>
              <a:t>low sensitivity (53.9%)</a:t>
            </a:r>
            <a:r>
              <a:rPr lang="en-US" dirty="0"/>
              <a:t>, indicating that it failed to detect a large proportion of actual churners.</a:t>
            </a:r>
          </a:p>
          <a:p>
            <a:r>
              <a:rPr lang="en-US" dirty="0"/>
              <a:t>The </a:t>
            </a:r>
            <a:r>
              <a:rPr lang="en-US" b="1" dirty="0"/>
              <a:t>balanced accuracy was 71.6%</a:t>
            </a:r>
            <a:r>
              <a:rPr lang="en-US" dirty="0"/>
              <a:t>, and the </a:t>
            </a:r>
            <a:r>
              <a:rPr lang="en-US" b="1" dirty="0"/>
              <a:t>Kappa value was 0.461</a:t>
            </a:r>
            <a:r>
              <a:rPr lang="en-US" dirty="0"/>
              <a:t>,indicating moderate agreement between predicted and actual values.</a:t>
            </a:r>
          </a:p>
          <a:p>
            <a:r>
              <a:rPr lang="en-US" dirty="0"/>
              <a:t>The model produced an </a:t>
            </a:r>
            <a:r>
              <a:rPr lang="en-US" b="1" dirty="0"/>
              <a:t>F1-score of approximately 0.61</a:t>
            </a:r>
            <a:r>
              <a:rPr lang="en-US" dirty="0"/>
              <a:t>, which is lower than that of Logistic Regression. This indicates a </a:t>
            </a:r>
            <a:r>
              <a:rPr lang="en-US" b="1" dirty="0"/>
              <a:t>weaker balance between precision and recall</a:t>
            </a:r>
            <a:r>
              <a:rPr lang="en-US" dirty="0"/>
              <a:t>, mainly due to its low sensitivity.</a:t>
            </a:r>
            <a:endParaRPr lang="en-US" b="1" dirty="0"/>
          </a:p>
          <a:p>
            <a:endParaRPr lang="en-US" dirty="0"/>
          </a:p>
        </p:txBody>
      </p:sp>
    </p:spTree>
    <p:extLst>
      <p:ext uri="{BB962C8B-B14F-4D97-AF65-F5344CB8AC3E}">
        <p14:creationId xmlns:p14="http://schemas.microsoft.com/office/powerpoint/2010/main" val="27156865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E2307-5FC5-31DC-6ECF-B6EEFEBFE3E8}"/>
              </a:ext>
            </a:extLst>
          </p:cNvPr>
          <p:cNvSpPr>
            <a:spLocks noGrp="1"/>
          </p:cNvSpPr>
          <p:nvPr>
            <p:ph type="title"/>
          </p:nvPr>
        </p:nvSpPr>
        <p:spPr/>
        <p:txBody>
          <a:bodyPr/>
          <a:lstStyle/>
          <a:p>
            <a:r>
              <a:rPr lang="en-US" dirty="0"/>
              <a:t>SVM Model Confusion Matrix</a:t>
            </a:r>
          </a:p>
        </p:txBody>
      </p:sp>
      <p:sp>
        <p:nvSpPr>
          <p:cNvPr id="3" name="Content Placeholder 2">
            <a:extLst>
              <a:ext uri="{FF2B5EF4-FFF2-40B4-BE49-F238E27FC236}">
                <a16:creationId xmlns:a16="http://schemas.microsoft.com/office/drawing/2014/main" id="{1EF76896-45C5-18F8-4FCD-0D4573E74B52}"/>
              </a:ext>
            </a:extLst>
          </p:cNvPr>
          <p:cNvSpPr>
            <a:spLocks noGrp="1"/>
          </p:cNvSpPr>
          <p:nvPr>
            <p:ph idx="1"/>
          </p:nvPr>
        </p:nvSpPr>
        <p:spPr/>
        <p:txBody>
          <a:bodyPr>
            <a:normAutofit fontScale="85000" lnSpcReduction="10000"/>
          </a:bodyPr>
          <a:lstStyle/>
          <a:p>
            <a:r>
              <a:rPr lang="en-US" b="1" dirty="0"/>
              <a:t>464 (True Negatives)</a:t>
            </a:r>
            <a:r>
              <a:rPr lang="en-US" dirty="0"/>
              <a:t> - Correctly predicted “No churn”</a:t>
            </a:r>
          </a:p>
          <a:p>
            <a:r>
              <a:rPr lang="en-US" b="1" dirty="0"/>
              <a:t>158 (True Positives)</a:t>
            </a:r>
            <a:r>
              <a:rPr lang="en-US" dirty="0"/>
              <a:t> - Correctly predicted “Yes churn”</a:t>
            </a:r>
          </a:p>
          <a:p>
            <a:r>
              <a:rPr lang="en-US" b="1" dirty="0"/>
              <a:t>60(False Positives) </a:t>
            </a:r>
            <a:r>
              <a:rPr lang="en-US" dirty="0"/>
              <a:t>– wrong churn Predictions</a:t>
            </a:r>
          </a:p>
          <a:p>
            <a:r>
              <a:rPr lang="en-US" b="1" dirty="0"/>
              <a:t>85(False Negatives) </a:t>
            </a:r>
            <a:r>
              <a:rPr lang="en-US" dirty="0"/>
              <a:t>– missed churners</a:t>
            </a:r>
          </a:p>
          <a:p>
            <a:r>
              <a:rPr lang="en-US" dirty="0"/>
              <a:t>The Support Vector Machine model achieved the </a:t>
            </a:r>
            <a:r>
              <a:rPr lang="en-US" b="1" dirty="0"/>
              <a:t>highest accuracy of 81.1%</a:t>
            </a:r>
            <a:r>
              <a:rPr lang="en-US" dirty="0"/>
              <a:t>, outperforming both Logistic Regression and KNN.</a:t>
            </a:r>
          </a:p>
          <a:p>
            <a:r>
              <a:rPr lang="en-US" dirty="0"/>
              <a:t> It maintained a strong </a:t>
            </a:r>
            <a:r>
              <a:rPr lang="en-US" b="1" dirty="0"/>
              <a:t>specificity (88.6%)</a:t>
            </a:r>
            <a:r>
              <a:rPr lang="en-US" dirty="0"/>
              <a:t> while also achieving the </a:t>
            </a:r>
            <a:r>
              <a:rPr lang="en-US" b="1" dirty="0"/>
              <a:t>highest sensitivity (65.0%)</a:t>
            </a:r>
            <a:r>
              <a:rPr lang="en-US" dirty="0"/>
              <a:t>, making it more effective at identifying churners.</a:t>
            </a:r>
          </a:p>
          <a:p>
            <a:r>
              <a:rPr lang="en-US" dirty="0"/>
              <a:t> The model recorded the </a:t>
            </a:r>
            <a:r>
              <a:rPr lang="en-US" b="1" dirty="0"/>
              <a:t>highest balanced accuracy (76.8%)</a:t>
            </a:r>
            <a:r>
              <a:rPr lang="en-US" dirty="0"/>
              <a:t> and </a:t>
            </a:r>
            <a:r>
              <a:rPr lang="en-US" b="1" dirty="0"/>
              <a:t>Kappa statistic (0.551)</a:t>
            </a:r>
            <a:r>
              <a:rPr lang="en-US" dirty="0"/>
              <a:t>, indicating better overall predictive performance and moderate agreement between predicted and actual values.</a:t>
            </a:r>
          </a:p>
          <a:p>
            <a:r>
              <a:rPr lang="en-US" dirty="0"/>
              <a:t>The SVM model achieved the </a:t>
            </a:r>
            <a:r>
              <a:rPr lang="en-US" b="1" dirty="0"/>
              <a:t>highest F1-score of approximately 0.69</a:t>
            </a:r>
            <a:r>
              <a:rPr lang="en-US" dirty="0"/>
              <a:t>, indicating the </a:t>
            </a:r>
            <a:r>
              <a:rPr lang="en-US" b="1" dirty="0"/>
              <a:t>best balance between precision and recall</a:t>
            </a:r>
            <a:r>
              <a:rPr lang="en-US" dirty="0"/>
              <a:t> among all models.</a:t>
            </a:r>
          </a:p>
          <a:p>
            <a:endParaRPr lang="en-US" dirty="0"/>
          </a:p>
          <a:p>
            <a:endParaRPr lang="en-US" dirty="0"/>
          </a:p>
          <a:p>
            <a:endParaRPr lang="en-US" dirty="0"/>
          </a:p>
        </p:txBody>
      </p:sp>
    </p:spTree>
    <p:extLst>
      <p:ext uri="{BB962C8B-B14F-4D97-AF65-F5344CB8AC3E}">
        <p14:creationId xmlns:p14="http://schemas.microsoft.com/office/powerpoint/2010/main" val="34578531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5F2DA-2EF6-10CD-6CA7-2F38412FBDB4}"/>
              </a:ext>
            </a:extLst>
          </p:cNvPr>
          <p:cNvSpPr>
            <a:spLocks noGrp="1"/>
          </p:cNvSpPr>
          <p:nvPr>
            <p:ph type="title"/>
          </p:nvPr>
        </p:nvSpPr>
        <p:spPr/>
        <p:txBody>
          <a:bodyPr/>
          <a:lstStyle/>
          <a:p>
            <a:r>
              <a:rPr lang="en-US" dirty="0"/>
              <a:t>Random Forest Model Confusion Matrix</a:t>
            </a:r>
          </a:p>
        </p:txBody>
      </p:sp>
      <p:sp>
        <p:nvSpPr>
          <p:cNvPr id="3" name="Content Placeholder 2">
            <a:extLst>
              <a:ext uri="{FF2B5EF4-FFF2-40B4-BE49-F238E27FC236}">
                <a16:creationId xmlns:a16="http://schemas.microsoft.com/office/drawing/2014/main" id="{62EAC769-7DE6-639E-79CB-2F62A378CE05}"/>
              </a:ext>
            </a:extLst>
          </p:cNvPr>
          <p:cNvSpPr>
            <a:spLocks noGrp="1"/>
          </p:cNvSpPr>
          <p:nvPr>
            <p:ph idx="1"/>
          </p:nvPr>
        </p:nvSpPr>
        <p:spPr/>
        <p:txBody>
          <a:bodyPr>
            <a:normAutofit fontScale="85000" lnSpcReduction="20000"/>
          </a:bodyPr>
          <a:lstStyle/>
          <a:p>
            <a:r>
              <a:rPr lang="en-US" b="1" dirty="0"/>
              <a:t>469 (True Negatives)</a:t>
            </a:r>
            <a:r>
              <a:rPr lang="en-US" dirty="0"/>
              <a:t> - Correctly predicted “No churn”</a:t>
            </a:r>
          </a:p>
          <a:p>
            <a:r>
              <a:rPr lang="en-US" b="1" dirty="0"/>
              <a:t>136 (True Positives)</a:t>
            </a:r>
            <a:r>
              <a:rPr lang="en-US" dirty="0"/>
              <a:t> - Correctly predicted “Yes churn”</a:t>
            </a:r>
          </a:p>
          <a:p>
            <a:r>
              <a:rPr lang="en-US" b="1" dirty="0"/>
              <a:t>55(False Positives) </a:t>
            </a:r>
            <a:r>
              <a:rPr lang="en-US" dirty="0"/>
              <a:t>– wrong churn Predictions</a:t>
            </a:r>
          </a:p>
          <a:p>
            <a:r>
              <a:rPr lang="en-US" b="1" dirty="0"/>
              <a:t>107(False Negatives) </a:t>
            </a:r>
            <a:r>
              <a:rPr lang="en-US" dirty="0"/>
              <a:t>– missed churners</a:t>
            </a:r>
          </a:p>
          <a:p>
            <a:r>
              <a:rPr lang="en-US" dirty="0"/>
              <a:t>The Random Forest model achieved an accuracy of approximately </a:t>
            </a:r>
            <a:r>
              <a:rPr lang="en-US" b="1" dirty="0"/>
              <a:t>78.9%.</a:t>
            </a:r>
          </a:p>
          <a:p>
            <a:r>
              <a:rPr lang="en-US" dirty="0"/>
              <a:t>The model demonstrated a </a:t>
            </a:r>
            <a:r>
              <a:rPr lang="en-US" b="1" dirty="0"/>
              <a:t>high specificity (89.5%)</a:t>
            </a:r>
            <a:r>
              <a:rPr lang="en-US" dirty="0"/>
              <a:t>, meaning it is very effective at correctly identifying non-churn customers. </a:t>
            </a:r>
          </a:p>
          <a:p>
            <a:r>
              <a:rPr lang="en-US" dirty="0"/>
              <a:t>However, the </a:t>
            </a:r>
            <a:r>
              <a:rPr lang="en-US" b="1" dirty="0"/>
              <a:t>sensitivity (55.97%)</a:t>
            </a:r>
            <a:r>
              <a:rPr lang="en-US" dirty="0"/>
              <a:t> is relatively low, indicating that the model fails to detect a substantial proportion of actual churners.</a:t>
            </a:r>
          </a:p>
          <a:p>
            <a:r>
              <a:rPr lang="en-US" dirty="0"/>
              <a:t>The </a:t>
            </a:r>
            <a:r>
              <a:rPr lang="en-US" b="1" dirty="0"/>
              <a:t>F1-score is approximately 0.62</a:t>
            </a:r>
            <a:r>
              <a:rPr lang="en-US" dirty="0"/>
              <a:t>, reflecting a moderate balance between precision and recall. </a:t>
            </a:r>
          </a:p>
          <a:p>
            <a:r>
              <a:rPr lang="en-US" dirty="0"/>
              <a:t>The </a:t>
            </a:r>
            <a:r>
              <a:rPr lang="en-US" b="1" dirty="0"/>
              <a:t>Kappa statistic (0.4824)</a:t>
            </a:r>
            <a:r>
              <a:rPr lang="en-US" dirty="0"/>
              <a:t> indicates moderate agreement between predicted and actual values, but it is lower than that of the SVM and Logistic Regression models.</a:t>
            </a:r>
          </a:p>
          <a:p>
            <a:endParaRPr lang="en-US" b="1" dirty="0"/>
          </a:p>
          <a:p>
            <a:endParaRPr lang="en-US" dirty="0"/>
          </a:p>
          <a:p>
            <a:endParaRPr lang="en-US" dirty="0"/>
          </a:p>
        </p:txBody>
      </p:sp>
    </p:spTree>
    <p:extLst>
      <p:ext uri="{BB962C8B-B14F-4D97-AF65-F5344CB8AC3E}">
        <p14:creationId xmlns:p14="http://schemas.microsoft.com/office/powerpoint/2010/main" val="2978452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15195-8ECB-2E77-C9B0-D9A45FA31355}"/>
              </a:ext>
            </a:extLst>
          </p:cNvPr>
          <p:cNvSpPr>
            <a:spLocks noGrp="1"/>
          </p:cNvSpPr>
          <p:nvPr>
            <p:ph type="title"/>
          </p:nvPr>
        </p:nvSpPr>
        <p:spPr/>
        <p:txBody>
          <a:bodyPr/>
          <a:lstStyle/>
          <a:p>
            <a:r>
              <a:rPr lang="en-US" dirty="0"/>
              <a:t>ROC Curves and AUC values</a:t>
            </a:r>
          </a:p>
        </p:txBody>
      </p:sp>
      <p:sp>
        <p:nvSpPr>
          <p:cNvPr id="3" name="Content Placeholder 2">
            <a:extLst>
              <a:ext uri="{FF2B5EF4-FFF2-40B4-BE49-F238E27FC236}">
                <a16:creationId xmlns:a16="http://schemas.microsoft.com/office/drawing/2014/main" id="{7196E6BA-5BCC-3BCC-71DF-9F282761F91F}"/>
              </a:ext>
            </a:extLst>
          </p:cNvPr>
          <p:cNvSpPr>
            <a:spLocks noGrp="1"/>
          </p:cNvSpPr>
          <p:nvPr>
            <p:ph idx="1"/>
          </p:nvPr>
        </p:nvSpPr>
        <p:spPr/>
        <p:txBody>
          <a:bodyPr>
            <a:normAutofit fontScale="85000" lnSpcReduction="10000"/>
          </a:bodyPr>
          <a:lstStyle/>
          <a:p>
            <a:r>
              <a:rPr lang="en-US" dirty="0"/>
              <a:t>Roc curves for the four models were plotted on the same graph and </a:t>
            </a:r>
            <a:r>
              <a:rPr lang="en-US" dirty="0" err="1"/>
              <a:t>Auc</a:t>
            </a:r>
            <a:r>
              <a:rPr lang="en-US" dirty="0"/>
              <a:t> values for each model was calculated.</a:t>
            </a:r>
          </a:p>
          <a:p>
            <a:r>
              <a:rPr lang="en-US" dirty="0"/>
              <a:t>The Area Under the Curve (AUC) values for the four models are summarized below:</a:t>
            </a:r>
          </a:p>
          <a:p>
            <a:r>
              <a:rPr lang="en-US" dirty="0"/>
              <a:t> Model                       AUC</a:t>
            </a:r>
          </a:p>
          <a:p>
            <a:r>
              <a:rPr lang="en-US" dirty="0"/>
              <a:t>1.Logistic                   0.8699</a:t>
            </a:r>
          </a:p>
          <a:p>
            <a:r>
              <a:rPr lang="en-US" dirty="0"/>
              <a:t>2.SVM                        0.8647</a:t>
            </a:r>
          </a:p>
          <a:p>
            <a:r>
              <a:rPr lang="en-US" dirty="0"/>
              <a:t>3.Randfom Forest    0.8487</a:t>
            </a:r>
          </a:p>
          <a:p>
            <a:r>
              <a:rPr lang="en-US" dirty="0"/>
              <a:t>4.KNN                         0.8269</a:t>
            </a:r>
          </a:p>
          <a:p>
            <a:r>
              <a:rPr lang="en-US" dirty="0"/>
              <a:t> Logistic Regression is the best-performing model, followed by SVM and Random Forest, while KNN performed the worst. Although Logistic Regression shows the strongest ability to distinguish between classes, all models exhibit low sensitivity, indicating difficulty in detecting Churned customers.</a:t>
            </a:r>
          </a:p>
          <a:p>
            <a:endParaRPr lang="en-US" dirty="0"/>
          </a:p>
        </p:txBody>
      </p:sp>
    </p:spTree>
    <p:extLst>
      <p:ext uri="{BB962C8B-B14F-4D97-AF65-F5344CB8AC3E}">
        <p14:creationId xmlns:p14="http://schemas.microsoft.com/office/powerpoint/2010/main" val="3800356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0CFC0-A8BB-C643-02EB-C5DD96F89D0A}"/>
              </a:ext>
            </a:extLst>
          </p:cNvPr>
          <p:cNvSpPr>
            <a:spLocks noGrp="1"/>
          </p:cNvSpPr>
          <p:nvPr>
            <p:ph type="title"/>
          </p:nvPr>
        </p:nvSpPr>
        <p:spPr/>
        <p:txBody>
          <a:bodyPr/>
          <a:lstStyle/>
          <a:p>
            <a:r>
              <a:rPr lang="en-US" dirty="0"/>
              <a:t>Task 10 : Interpretations and </a:t>
            </a:r>
            <a:r>
              <a:rPr lang="en-US" dirty="0" err="1"/>
              <a:t>Reccomendations</a:t>
            </a:r>
            <a:endParaRPr lang="en-US" dirty="0"/>
          </a:p>
        </p:txBody>
      </p:sp>
      <p:sp>
        <p:nvSpPr>
          <p:cNvPr id="3" name="Content Placeholder 2">
            <a:extLst>
              <a:ext uri="{FF2B5EF4-FFF2-40B4-BE49-F238E27FC236}">
                <a16:creationId xmlns:a16="http://schemas.microsoft.com/office/drawing/2014/main" id="{CE8CADAB-1CC1-B1F9-8B48-C7FB62B0C239}"/>
              </a:ext>
            </a:extLst>
          </p:cNvPr>
          <p:cNvSpPr>
            <a:spLocks noGrp="1"/>
          </p:cNvSpPr>
          <p:nvPr>
            <p:ph idx="1"/>
          </p:nvPr>
        </p:nvSpPr>
        <p:spPr/>
        <p:txBody>
          <a:bodyPr>
            <a:normAutofit fontScale="70000" lnSpcReduction="20000"/>
          </a:bodyPr>
          <a:lstStyle/>
          <a:p>
            <a:r>
              <a:rPr lang="en-US" dirty="0"/>
              <a:t>The best-performing model was </a:t>
            </a:r>
            <a:r>
              <a:rPr lang="en-US" b="1" dirty="0"/>
              <a:t>Logistic Regression</a:t>
            </a:r>
            <a:r>
              <a:rPr lang="en-US" dirty="0"/>
              <a:t>, with the highest AUC of </a:t>
            </a:r>
            <a:r>
              <a:rPr lang="en-US" b="1" dirty="0"/>
              <a:t>0.8699</a:t>
            </a:r>
            <a:r>
              <a:rPr lang="en-US" dirty="0"/>
              <a:t>.</a:t>
            </a:r>
          </a:p>
          <a:p>
            <a:r>
              <a:rPr lang="en-US" b="1" dirty="0"/>
              <a:t> Justification : </a:t>
            </a:r>
            <a:r>
              <a:rPr lang="en-US" dirty="0"/>
              <a:t>Highest </a:t>
            </a:r>
            <a:r>
              <a:rPr lang="en-US" b="1" dirty="0"/>
              <a:t>AUC</a:t>
            </a:r>
            <a:r>
              <a:rPr lang="en-US" dirty="0"/>
              <a:t> -  best ability to distinguish between churn and non-Churned customers </a:t>
            </a:r>
          </a:p>
          <a:p>
            <a:r>
              <a:rPr lang="en-US" dirty="0"/>
              <a:t>The worst-performing model was </a:t>
            </a:r>
            <a:r>
              <a:rPr lang="en-US" b="1" dirty="0"/>
              <a:t>K-Nearest Neighbors (KNN)</a:t>
            </a:r>
            <a:r>
              <a:rPr lang="en-US" dirty="0"/>
              <a:t>, with the lowest AUC of </a:t>
            </a:r>
            <a:r>
              <a:rPr lang="en-US" b="1" dirty="0"/>
              <a:t>0.8269</a:t>
            </a:r>
            <a:r>
              <a:rPr lang="en-US" dirty="0"/>
              <a:t>.</a:t>
            </a:r>
          </a:p>
          <a:p>
            <a:r>
              <a:rPr lang="en-US" b="1" dirty="0"/>
              <a:t> Reasons:</a:t>
            </a:r>
          </a:p>
          <a:p>
            <a:r>
              <a:rPr lang="en-US" dirty="0"/>
              <a:t> low </a:t>
            </a:r>
            <a:r>
              <a:rPr lang="en-US" b="1" dirty="0"/>
              <a:t>sensitivity (53.9%)</a:t>
            </a:r>
            <a:endParaRPr lang="en-US" dirty="0"/>
          </a:p>
          <a:p>
            <a:r>
              <a:rPr lang="en-US" dirty="0"/>
              <a:t>Feature scaling was </a:t>
            </a:r>
            <a:r>
              <a:rPr lang="en-US" b="1" dirty="0"/>
              <a:t>not required for all models</a:t>
            </a:r>
            <a:r>
              <a:rPr lang="en-US" dirty="0"/>
              <a:t>.</a:t>
            </a:r>
            <a:endParaRPr lang="en-US" b="1" dirty="0"/>
          </a:p>
          <a:p>
            <a:r>
              <a:rPr lang="en-US" b="1" dirty="0"/>
              <a:t>It was only Required for:</a:t>
            </a:r>
            <a:r>
              <a:rPr lang="en-US" dirty="0"/>
              <a:t> </a:t>
            </a:r>
          </a:p>
          <a:p>
            <a:pPr lvl="1"/>
            <a:r>
              <a:rPr lang="en-US" dirty="0"/>
              <a:t>KNN - relies on distance calculations </a:t>
            </a:r>
          </a:p>
          <a:p>
            <a:pPr lvl="1"/>
            <a:r>
              <a:rPr lang="en-US" dirty="0"/>
              <a:t>SVM - sensitive to feature magnitude </a:t>
            </a:r>
          </a:p>
          <a:p>
            <a:r>
              <a:rPr lang="en-US" b="1" dirty="0"/>
              <a:t>Not required for:</a:t>
            </a:r>
            <a:r>
              <a:rPr lang="en-US" dirty="0"/>
              <a:t> </a:t>
            </a:r>
          </a:p>
          <a:p>
            <a:pPr lvl="1"/>
            <a:r>
              <a:rPr lang="en-US" dirty="0"/>
              <a:t>Logistic Regression - uses coefficients, not distances </a:t>
            </a:r>
          </a:p>
          <a:p>
            <a:pPr lvl="1"/>
            <a:r>
              <a:rPr lang="en-US" dirty="0"/>
              <a:t>Random Forest - tree-based, scale-invariant</a:t>
            </a:r>
          </a:p>
          <a:p>
            <a:pPr lvl="1"/>
            <a:r>
              <a:rPr lang="en-US" dirty="0"/>
              <a:t>Cross-validation improves model  reliability as it reduces overfitting .</a:t>
            </a:r>
          </a:p>
          <a:p>
            <a:pPr lvl="1"/>
            <a:endParaRPr lang="en-US" dirty="0"/>
          </a:p>
          <a:p>
            <a:endParaRPr lang="en-US" dirty="0"/>
          </a:p>
        </p:txBody>
      </p:sp>
    </p:spTree>
    <p:extLst>
      <p:ext uri="{BB962C8B-B14F-4D97-AF65-F5344CB8AC3E}">
        <p14:creationId xmlns:p14="http://schemas.microsoft.com/office/powerpoint/2010/main" val="3495288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B9FE2-C97A-4EE0-2D2C-898BCD1ED309}"/>
              </a:ext>
            </a:extLst>
          </p:cNvPr>
          <p:cNvSpPr>
            <a:spLocks noGrp="1"/>
          </p:cNvSpPr>
          <p:nvPr>
            <p:ph type="title"/>
          </p:nvPr>
        </p:nvSpPr>
        <p:spPr/>
        <p:txBody>
          <a:bodyPr/>
          <a:lstStyle/>
          <a:p>
            <a:r>
              <a:rPr lang="en-US" dirty="0" err="1"/>
              <a:t>Recomendations</a:t>
            </a:r>
            <a:r>
              <a:rPr lang="en-US" dirty="0"/>
              <a:t> and Limitations</a:t>
            </a:r>
            <a:br>
              <a:rPr lang="en-US" dirty="0"/>
            </a:br>
            <a:endParaRPr lang="en-US" dirty="0"/>
          </a:p>
        </p:txBody>
      </p:sp>
      <p:sp>
        <p:nvSpPr>
          <p:cNvPr id="3" name="Content Placeholder 2">
            <a:extLst>
              <a:ext uri="{FF2B5EF4-FFF2-40B4-BE49-F238E27FC236}">
                <a16:creationId xmlns:a16="http://schemas.microsoft.com/office/drawing/2014/main" id="{DF38EDC9-0A67-4C91-8551-AB325BB9E9EF}"/>
              </a:ext>
            </a:extLst>
          </p:cNvPr>
          <p:cNvSpPr>
            <a:spLocks noGrp="1"/>
          </p:cNvSpPr>
          <p:nvPr>
            <p:ph idx="1"/>
          </p:nvPr>
        </p:nvSpPr>
        <p:spPr/>
        <p:txBody>
          <a:bodyPr/>
          <a:lstStyle/>
          <a:p>
            <a:r>
              <a:rPr lang="en-US" dirty="0"/>
              <a:t>The logistic regression model should be used to identify churn risk early.</a:t>
            </a:r>
          </a:p>
          <a:p>
            <a:r>
              <a:rPr lang="en-US" dirty="0"/>
              <a:t>Limitation : Class imbalance – Fewer churners may </a:t>
            </a:r>
            <a:r>
              <a:rPr lang="en-US"/>
              <a:t>bias predictions.</a:t>
            </a:r>
            <a:endParaRPr lang="en-US" dirty="0"/>
          </a:p>
        </p:txBody>
      </p:sp>
    </p:spTree>
    <p:extLst>
      <p:ext uri="{BB962C8B-B14F-4D97-AF65-F5344CB8AC3E}">
        <p14:creationId xmlns:p14="http://schemas.microsoft.com/office/powerpoint/2010/main" val="228683136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355</TotalTime>
  <Words>1886</Words>
  <Application>Microsoft Office PowerPoint</Application>
  <PresentationFormat>Widescreen</PresentationFormat>
  <Paragraphs>119</Paragraphs>
  <Slides>19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Century Gothic</vt:lpstr>
      <vt:lpstr>Wingdings 3</vt:lpstr>
      <vt:lpstr>Ion</vt:lpstr>
      <vt:lpstr>ML ASSIGNMENT THREE REPORT</vt:lpstr>
      <vt:lpstr>Assignment Purpose</vt:lpstr>
      <vt:lpstr>Task 1 : Data Import and Exploration</vt:lpstr>
      <vt:lpstr>Task 2 : Data Preprocessing</vt:lpstr>
      <vt:lpstr>Task 3 : Data Partitioning</vt:lpstr>
      <vt:lpstr>Task 4 :Train Control Scheme</vt:lpstr>
      <vt:lpstr>Task 5 : Model Training – Logistic Regression</vt:lpstr>
      <vt:lpstr>Interpretation of the odd ratios of the above  predictors of churn </vt:lpstr>
      <vt:lpstr>Task 6 : Model Training - KNN</vt:lpstr>
      <vt:lpstr>Task 7 : Model Training - SVM</vt:lpstr>
      <vt:lpstr>Task 8 : Model Training : RandomForest</vt:lpstr>
      <vt:lpstr>Task 9 : Model Evaluation and Comparison</vt:lpstr>
      <vt:lpstr>Logistic Regression Model Confusion Matrix</vt:lpstr>
      <vt:lpstr>KNN Model – Confusion Matrix</vt:lpstr>
      <vt:lpstr>SVM Model Confusion Matrix</vt:lpstr>
      <vt:lpstr>Random Forest Model Confusion Matrix</vt:lpstr>
      <vt:lpstr>ROC Curves and AUC values</vt:lpstr>
      <vt:lpstr>Task 10 : Interpretations and Reccomendations</vt:lpstr>
      <vt:lpstr>Recomendations and Limitations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allan shear</dc:creator>
  <cp:lastModifiedBy>user</cp:lastModifiedBy>
  <cp:revision>3</cp:revision>
  <dcterms:created xsi:type="dcterms:W3CDTF">2026-04-15T07:44:15Z</dcterms:created>
  <dcterms:modified xsi:type="dcterms:W3CDTF">2026-04-20T05:42:22Z</dcterms:modified>
</cp:coreProperties>
</file>